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58" r:id="rId5"/>
    <p:sldId id="259" r:id="rId6"/>
    <p:sldId id="260" r:id="rId7"/>
    <p:sldId id="261" r:id="rId8"/>
    <p:sldId id="262" r:id="rId9"/>
    <p:sldId id="263" r:id="rId10"/>
    <p:sldId id="267" r:id="rId11"/>
    <p:sldId id="269" r:id="rId12"/>
    <p:sldId id="271" r:id="rId13"/>
    <p:sldId id="270" r:id="rId14"/>
    <p:sldId id="272" r:id="rId15"/>
    <p:sldId id="273" r:id="rId16"/>
    <p:sldId id="274" r:id="rId17"/>
    <p:sldId id="277" r:id="rId18"/>
    <p:sldId id="276" r:id="rId19"/>
    <p:sldId id="275" r:id="rId2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0" d="100"/>
          <a:sy n="70" d="100"/>
        </p:scale>
        <p:origin x="1138" y="22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ata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114219-BD6D-4C15-87B8-A7FBBD430FD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BE184E9-15B3-4767-BDD6-C790C88CB83A}">
      <dgm:prSet/>
      <dgm:spPr/>
      <dgm:t>
        <a:bodyPr/>
        <a:lstStyle/>
        <a:p>
          <a:pPr>
            <a:lnSpc>
              <a:spcPct val="100000"/>
            </a:lnSpc>
          </a:pPr>
          <a:r>
            <a:rPr lang="fr-FR"/>
            <a:t>Principalement Alison + Arturo, Marc-Henri interviendra 2j (4 et 6 Mai)</a:t>
          </a:r>
          <a:endParaRPr lang="en-US"/>
        </a:p>
      </dgm:t>
    </dgm:pt>
    <dgm:pt modelId="{59FB902A-3C07-44D2-97B7-4F30C0593FD5}" type="parTrans" cxnId="{EE1EDA6C-DA5B-47F7-8544-C45075270083}">
      <dgm:prSet/>
      <dgm:spPr/>
      <dgm:t>
        <a:bodyPr/>
        <a:lstStyle/>
        <a:p>
          <a:endParaRPr lang="en-US"/>
        </a:p>
      </dgm:t>
    </dgm:pt>
    <dgm:pt modelId="{F8445BD6-3D67-4E5E-96F0-04D86E43D94D}" type="sibTrans" cxnId="{EE1EDA6C-DA5B-47F7-8544-C45075270083}">
      <dgm:prSet/>
      <dgm:spPr/>
      <dgm:t>
        <a:bodyPr/>
        <a:lstStyle/>
        <a:p>
          <a:endParaRPr lang="en-US"/>
        </a:p>
      </dgm:t>
    </dgm:pt>
    <dgm:pt modelId="{B23ACEAD-7982-446E-A144-007473E4C276}">
      <dgm:prSet/>
      <dgm:spPr/>
      <dgm:t>
        <a:bodyPr/>
        <a:lstStyle/>
        <a:p>
          <a:pPr>
            <a:lnSpc>
              <a:spcPct val="100000"/>
            </a:lnSpc>
          </a:pPr>
          <a:r>
            <a:rPr lang="fr-FR"/>
            <a:t>Projet par groupe de 4</a:t>
          </a:r>
          <a:endParaRPr lang="en-US"/>
        </a:p>
      </dgm:t>
    </dgm:pt>
    <dgm:pt modelId="{67221751-1BE7-4EC8-9C20-5EAF8989DF97}" type="parTrans" cxnId="{8D8A209E-93B6-414F-8748-3FFDDC7DC300}">
      <dgm:prSet/>
      <dgm:spPr/>
      <dgm:t>
        <a:bodyPr/>
        <a:lstStyle/>
        <a:p>
          <a:endParaRPr lang="en-US"/>
        </a:p>
      </dgm:t>
    </dgm:pt>
    <dgm:pt modelId="{37F31BF9-C8A4-4968-B22F-55455F708AFA}" type="sibTrans" cxnId="{8D8A209E-93B6-414F-8748-3FFDDC7DC300}">
      <dgm:prSet/>
      <dgm:spPr/>
      <dgm:t>
        <a:bodyPr/>
        <a:lstStyle/>
        <a:p>
          <a:endParaRPr lang="en-US"/>
        </a:p>
      </dgm:t>
    </dgm:pt>
    <dgm:pt modelId="{A1B0C9E7-ED03-470D-8F5E-59F2B3B27B14}">
      <dgm:prSet/>
      <dgm:spPr/>
      <dgm:t>
        <a:bodyPr/>
        <a:lstStyle/>
        <a:p>
          <a:pPr>
            <a:lnSpc>
              <a:spcPct val="100000"/>
            </a:lnSpc>
          </a:pPr>
          <a:r>
            <a:rPr lang="fr-FR"/>
            <a:t>Examen le 15/9</a:t>
          </a:r>
          <a:endParaRPr lang="en-US"/>
        </a:p>
      </dgm:t>
    </dgm:pt>
    <dgm:pt modelId="{B66D1DFE-2B0E-412B-827C-66EEC273809F}" type="parTrans" cxnId="{9AA8EA2B-8B05-46DE-8937-38578B74F816}">
      <dgm:prSet/>
      <dgm:spPr/>
      <dgm:t>
        <a:bodyPr/>
        <a:lstStyle/>
        <a:p>
          <a:endParaRPr lang="en-US"/>
        </a:p>
      </dgm:t>
    </dgm:pt>
    <dgm:pt modelId="{6E5A53AA-B3A1-4CDA-9815-D3E28B7CC653}" type="sibTrans" cxnId="{9AA8EA2B-8B05-46DE-8937-38578B74F816}">
      <dgm:prSet/>
      <dgm:spPr/>
      <dgm:t>
        <a:bodyPr/>
        <a:lstStyle/>
        <a:p>
          <a:endParaRPr lang="en-US"/>
        </a:p>
      </dgm:t>
    </dgm:pt>
    <dgm:pt modelId="{1747D4B7-2BB8-41DA-8B63-3B5D8ABDF973}" type="pres">
      <dgm:prSet presAssocID="{DA114219-BD6D-4C15-87B8-A7FBBD430FDC}" presName="root" presStyleCnt="0">
        <dgm:presLayoutVars>
          <dgm:dir/>
          <dgm:resizeHandles val="exact"/>
        </dgm:presLayoutVars>
      </dgm:prSet>
      <dgm:spPr/>
    </dgm:pt>
    <dgm:pt modelId="{B15B0C48-D77D-4A60-974A-1911A7FD94CC}" type="pres">
      <dgm:prSet presAssocID="{BBE184E9-15B3-4767-BDD6-C790C88CB83A}" presName="compNode" presStyleCnt="0"/>
      <dgm:spPr/>
    </dgm:pt>
    <dgm:pt modelId="{57300418-0E3A-4F19-9B1C-D6BFDDDB44FD}" type="pres">
      <dgm:prSet presAssocID="{BBE184E9-15B3-4767-BDD6-C790C88CB83A}" presName="bgRect" presStyleLbl="bgShp" presStyleIdx="0" presStyleCnt="3"/>
      <dgm:spPr/>
    </dgm:pt>
    <dgm:pt modelId="{C2469E71-15FC-4336-9809-449D63971941}" type="pres">
      <dgm:prSet presAssocID="{BBE184E9-15B3-4767-BDD6-C790C88CB83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oustache Face with Solid Fill"/>
        </a:ext>
      </dgm:extLst>
    </dgm:pt>
    <dgm:pt modelId="{ED977F50-4563-4D6A-9398-9790C8368262}" type="pres">
      <dgm:prSet presAssocID="{BBE184E9-15B3-4767-BDD6-C790C88CB83A}" presName="spaceRect" presStyleCnt="0"/>
      <dgm:spPr/>
    </dgm:pt>
    <dgm:pt modelId="{E89963E0-04E6-44C0-AE01-1D62A9C72A76}" type="pres">
      <dgm:prSet presAssocID="{BBE184E9-15B3-4767-BDD6-C790C88CB83A}" presName="parTx" presStyleLbl="revTx" presStyleIdx="0" presStyleCnt="3">
        <dgm:presLayoutVars>
          <dgm:chMax val="0"/>
          <dgm:chPref val="0"/>
        </dgm:presLayoutVars>
      </dgm:prSet>
      <dgm:spPr/>
    </dgm:pt>
    <dgm:pt modelId="{2F1A6A05-9BFE-4E08-B048-984287B68A10}" type="pres">
      <dgm:prSet presAssocID="{F8445BD6-3D67-4E5E-96F0-04D86E43D94D}" presName="sibTrans" presStyleCnt="0"/>
      <dgm:spPr/>
    </dgm:pt>
    <dgm:pt modelId="{EBF9F4A7-3962-46F1-9993-40CDC6ADCCF9}" type="pres">
      <dgm:prSet presAssocID="{B23ACEAD-7982-446E-A144-007473E4C276}" presName="compNode" presStyleCnt="0"/>
      <dgm:spPr/>
    </dgm:pt>
    <dgm:pt modelId="{12808985-8998-49B9-8B26-AA9018D389AF}" type="pres">
      <dgm:prSet presAssocID="{B23ACEAD-7982-446E-A144-007473E4C276}" presName="bgRect" presStyleLbl="bgShp" presStyleIdx="1" presStyleCnt="3"/>
      <dgm:spPr/>
    </dgm:pt>
    <dgm:pt modelId="{B1889808-3EB2-4E75-BE93-3EE36E01C6F8}" type="pres">
      <dgm:prSet presAssocID="{B23ACEAD-7982-446E-A144-007473E4C27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axophone"/>
        </a:ext>
      </dgm:extLst>
    </dgm:pt>
    <dgm:pt modelId="{9872A035-4A6C-4EF2-BA36-CA69E44BDE55}" type="pres">
      <dgm:prSet presAssocID="{B23ACEAD-7982-446E-A144-007473E4C276}" presName="spaceRect" presStyleCnt="0"/>
      <dgm:spPr/>
    </dgm:pt>
    <dgm:pt modelId="{79A7C833-8044-41EC-BCCF-3D0E02A00C0D}" type="pres">
      <dgm:prSet presAssocID="{B23ACEAD-7982-446E-A144-007473E4C276}" presName="parTx" presStyleLbl="revTx" presStyleIdx="1" presStyleCnt="3">
        <dgm:presLayoutVars>
          <dgm:chMax val="0"/>
          <dgm:chPref val="0"/>
        </dgm:presLayoutVars>
      </dgm:prSet>
      <dgm:spPr/>
    </dgm:pt>
    <dgm:pt modelId="{20F7ABB2-A3F9-40C4-B255-B2D2A6498455}" type="pres">
      <dgm:prSet presAssocID="{37F31BF9-C8A4-4968-B22F-55455F708AFA}" presName="sibTrans" presStyleCnt="0"/>
      <dgm:spPr/>
    </dgm:pt>
    <dgm:pt modelId="{B1FF6B25-7D5C-4FDC-A0FC-894CA60DA7DD}" type="pres">
      <dgm:prSet presAssocID="{A1B0C9E7-ED03-470D-8F5E-59F2B3B27B14}" presName="compNode" presStyleCnt="0"/>
      <dgm:spPr/>
    </dgm:pt>
    <dgm:pt modelId="{C0784184-159A-4EF6-8788-ABE52E294E87}" type="pres">
      <dgm:prSet presAssocID="{A1B0C9E7-ED03-470D-8F5E-59F2B3B27B14}" presName="bgRect" presStyleLbl="bgShp" presStyleIdx="2" presStyleCnt="3"/>
      <dgm:spPr/>
    </dgm:pt>
    <dgm:pt modelId="{B9069FE6-063F-4D9A-91F7-8EC048D7E6CB}" type="pres">
      <dgm:prSet presAssocID="{A1B0C9E7-ED03-470D-8F5E-59F2B3B27B14}"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oche"/>
        </a:ext>
      </dgm:extLst>
    </dgm:pt>
    <dgm:pt modelId="{EE5A1FA0-947B-4F6C-98E3-1E977986CC4F}" type="pres">
      <dgm:prSet presAssocID="{A1B0C9E7-ED03-470D-8F5E-59F2B3B27B14}" presName="spaceRect" presStyleCnt="0"/>
      <dgm:spPr/>
    </dgm:pt>
    <dgm:pt modelId="{550895F3-2668-40AA-8DB2-358943CC6703}" type="pres">
      <dgm:prSet presAssocID="{A1B0C9E7-ED03-470D-8F5E-59F2B3B27B14}" presName="parTx" presStyleLbl="revTx" presStyleIdx="2" presStyleCnt="3">
        <dgm:presLayoutVars>
          <dgm:chMax val="0"/>
          <dgm:chPref val="0"/>
        </dgm:presLayoutVars>
      </dgm:prSet>
      <dgm:spPr/>
    </dgm:pt>
  </dgm:ptLst>
  <dgm:cxnLst>
    <dgm:cxn modelId="{D4436E24-A04B-4486-8D6D-D385368D95B3}" type="presOf" srcId="{B23ACEAD-7982-446E-A144-007473E4C276}" destId="{79A7C833-8044-41EC-BCCF-3D0E02A00C0D}" srcOrd="0" destOrd="0" presId="urn:microsoft.com/office/officeart/2018/2/layout/IconVerticalSolidList"/>
    <dgm:cxn modelId="{9AA8EA2B-8B05-46DE-8937-38578B74F816}" srcId="{DA114219-BD6D-4C15-87B8-A7FBBD430FDC}" destId="{A1B0C9E7-ED03-470D-8F5E-59F2B3B27B14}" srcOrd="2" destOrd="0" parTransId="{B66D1DFE-2B0E-412B-827C-66EEC273809F}" sibTransId="{6E5A53AA-B3A1-4CDA-9815-D3E28B7CC653}"/>
    <dgm:cxn modelId="{88122C2F-7747-4B89-B5A9-67918C39E88E}" type="presOf" srcId="{BBE184E9-15B3-4767-BDD6-C790C88CB83A}" destId="{E89963E0-04E6-44C0-AE01-1D62A9C72A76}" srcOrd="0" destOrd="0" presId="urn:microsoft.com/office/officeart/2018/2/layout/IconVerticalSolidList"/>
    <dgm:cxn modelId="{EE1EDA6C-DA5B-47F7-8544-C45075270083}" srcId="{DA114219-BD6D-4C15-87B8-A7FBBD430FDC}" destId="{BBE184E9-15B3-4767-BDD6-C790C88CB83A}" srcOrd="0" destOrd="0" parTransId="{59FB902A-3C07-44D2-97B7-4F30C0593FD5}" sibTransId="{F8445BD6-3D67-4E5E-96F0-04D86E43D94D}"/>
    <dgm:cxn modelId="{8D8A209E-93B6-414F-8748-3FFDDC7DC300}" srcId="{DA114219-BD6D-4C15-87B8-A7FBBD430FDC}" destId="{B23ACEAD-7982-446E-A144-007473E4C276}" srcOrd="1" destOrd="0" parTransId="{67221751-1BE7-4EC8-9C20-5EAF8989DF97}" sibTransId="{37F31BF9-C8A4-4968-B22F-55455F708AFA}"/>
    <dgm:cxn modelId="{43AD4DCD-6635-4026-9967-54949373A763}" type="presOf" srcId="{DA114219-BD6D-4C15-87B8-A7FBBD430FDC}" destId="{1747D4B7-2BB8-41DA-8B63-3B5D8ABDF973}" srcOrd="0" destOrd="0" presId="urn:microsoft.com/office/officeart/2018/2/layout/IconVerticalSolidList"/>
    <dgm:cxn modelId="{0770F3F3-E78D-47FD-9693-BB604BA4BB52}" type="presOf" srcId="{A1B0C9E7-ED03-470D-8F5E-59F2B3B27B14}" destId="{550895F3-2668-40AA-8DB2-358943CC6703}" srcOrd="0" destOrd="0" presId="urn:microsoft.com/office/officeart/2018/2/layout/IconVerticalSolidList"/>
    <dgm:cxn modelId="{659DC77E-FC24-49AC-AE8D-633536B639FB}" type="presParOf" srcId="{1747D4B7-2BB8-41DA-8B63-3B5D8ABDF973}" destId="{B15B0C48-D77D-4A60-974A-1911A7FD94CC}" srcOrd="0" destOrd="0" presId="urn:microsoft.com/office/officeart/2018/2/layout/IconVerticalSolidList"/>
    <dgm:cxn modelId="{1A4DB864-6A50-4E46-AF37-8C4CD9B3E967}" type="presParOf" srcId="{B15B0C48-D77D-4A60-974A-1911A7FD94CC}" destId="{57300418-0E3A-4F19-9B1C-D6BFDDDB44FD}" srcOrd="0" destOrd="0" presId="urn:microsoft.com/office/officeart/2018/2/layout/IconVerticalSolidList"/>
    <dgm:cxn modelId="{74DE25F2-0554-4B6C-807C-951AD4C23FD7}" type="presParOf" srcId="{B15B0C48-D77D-4A60-974A-1911A7FD94CC}" destId="{C2469E71-15FC-4336-9809-449D63971941}" srcOrd="1" destOrd="0" presId="urn:microsoft.com/office/officeart/2018/2/layout/IconVerticalSolidList"/>
    <dgm:cxn modelId="{28928BB2-FAF8-4991-B1A0-66AEC643ACC3}" type="presParOf" srcId="{B15B0C48-D77D-4A60-974A-1911A7FD94CC}" destId="{ED977F50-4563-4D6A-9398-9790C8368262}" srcOrd="2" destOrd="0" presId="urn:microsoft.com/office/officeart/2018/2/layout/IconVerticalSolidList"/>
    <dgm:cxn modelId="{D38780A0-3712-470F-A846-A55ACC2BC768}" type="presParOf" srcId="{B15B0C48-D77D-4A60-974A-1911A7FD94CC}" destId="{E89963E0-04E6-44C0-AE01-1D62A9C72A76}" srcOrd="3" destOrd="0" presId="urn:microsoft.com/office/officeart/2018/2/layout/IconVerticalSolidList"/>
    <dgm:cxn modelId="{79D72AC2-1E8B-4BD2-9AB5-1C014432C6DC}" type="presParOf" srcId="{1747D4B7-2BB8-41DA-8B63-3B5D8ABDF973}" destId="{2F1A6A05-9BFE-4E08-B048-984287B68A10}" srcOrd="1" destOrd="0" presId="urn:microsoft.com/office/officeart/2018/2/layout/IconVerticalSolidList"/>
    <dgm:cxn modelId="{34552F59-3B09-45EE-9CD4-A6877FDD6070}" type="presParOf" srcId="{1747D4B7-2BB8-41DA-8B63-3B5D8ABDF973}" destId="{EBF9F4A7-3962-46F1-9993-40CDC6ADCCF9}" srcOrd="2" destOrd="0" presId="urn:microsoft.com/office/officeart/2018/2/layout/IconVerticalSolidList"/>
    <dgm:cxn modelId="{0EA93164-E30D-49D2-A95F-8E0784945D98}" type="presParOf" srcId="{EBF9F4A7-3962-46F1-9993-40CDC6ADCCF9}" destId="{12808985-8998-49B9-8B26-AA9018D389AF}" srcOrd="0" destOrd="0" presId="urn:microsoft.com/office/officeart/2018/2/layout/IconVerticalSolidList"/>
    <dgm:cxn modelId="{D30B11C1-57B2-4981-9E82-891CFF62300C}" type="presParOf" srcId="{EBF9F4A7-3962-46F1-9993-40CDC6ADCCF9}" destId="{B1889808-3EB2-4E75-BE93-3EE36E01C6F8}" srcOrd="1" destOrd="0" presId="urn:microsoft.com/office/officeart/2018/2/layout/IconVerticalSolidList"/>
    <dgm:cxn modelId="{301EC47E-0506-4EB6-8993-F2F5475D78FC}" type="presParOf" srcId="{EBF9F4A7-3962-46F1-9993-40CDC6ADCCF9}" destId="{9872A035-4A6C-4EF2-BA36-CA69E44BDE55}" srcOrd="2" destOrd="0" presId="urn:microsoft.com/office/officeart/2018/2/layout/IconVerticalSolidList"/>
    <dgm:cxn modelId="{C29651EA-A17E-4201-9F9F-4F15C78CFE87}" type="presParOf" srcId="{EBF9F4A7-3962-46F1-9993-40CDC6ADCCF9}" destId="{79A7C833-8044-41EC-BCCF-3D0E02A00C0D}" srcOrd="3" destOrd="0" presId="urn:microsoft.com/office/officeart/2018/2/layout/IconVerticalSolidList"/>
    <dgm:cxn modelId="{4B1D4848-DA57-4053-846D-9054FD4C3F6E}" type="presParOf" srcId="{1747D4B7-2BB8-41DA-8B63-3B5D8ABDF973}" destId="{20F7ABB2-A3F9-40C4-B255-B2D2A6498455}" srcOrd="3" destOrd="0" presId="urn:microsoft.com/office/officeart/2018/2/layout/IconVerticalSolidList"/>
    <dgm:cxn modelId="{44B875DA-6F9E-4060-A46C-2B571F28F845}" type="presParOf" srcId="{1747D4B7-2BB8-41DA-8B63-3B5D8ABDF973}" destId="{B1FF6B25-7D5C-4FDC-A0FC-894CA60DA7DD}" srcOrd="4" destOrd="0" presId="urn:microsoft.com/office/officeart/2018/2/layout/IconVerticalSolidList"/>
    <dgm:cxn modelId="{52988C34-03C0-4CA2-ACD6-F6DDB812B484}" type="presParOf" srcId="{B1FF6B25-7D5C-4FDC-A0FC-894CA60DA7DD}" destId="{C0784184-159A-4EF6-8788-ABE52E294E87}" srcOrd="0" destOrd="0" presId="urn:microsoft.com/office/officeart/2018/2/layout/IconVerticalSolidList"/>
    <dgm:cxn modelId="{BA7A0E3D-6C05-429D-9317-112BBCDF1353}" type="presParOf" srcId="{B1FF6B25-7D5C-4FDC-A0FC-894CA60DA7DD}" destId="{B9069FE6-063F-4D9A-91F7-8EC048D7E6CB}" srcOrd="1" destOrd="0" presId="urn:microsoft.com/office/officeart/2018/2/layout/IconVerticalSolidList"/>
    <dgm:cxn modelId="{B77C1FFC-48A5-4CA0-8E3B-B219D449CC1A}" type="presParOf" srcId="{B1FF6B25-7D5C-4FDC-A0FC-894CA60DA7DD}" destId="{EE5A1FA0-947B-4F6C-98E3-1E977986CC4F}" srcOrd="2" destOrd="0" presId="urn:microsoft.com/office/officeart/2018/2/layout/IconVerticalSolidList"/>
    <dgm:cxn modelId="{C6A67742-A731-4544-B922-78DBEDAF086F}" type="presParOf" srcId="{B1FF6B25-7D5C-4FDC-A0FC-894CA60DA7DD}" destId="{550895F3-2668-40AA-8DB2-358943CC670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672D42-1DAB-436C-A4E9-A46E44B7EB4D}"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61C3DA7B-642D-453E-8E61-3E5FB13D73CB}">
      <dgm:prSet/>
      <dgm:spPr/>
      <dgm:t>
        <a:bodyPr/>
        <a:lstStyle/>
        <a:p>
          <a:r>
            <a:rPr lang="fr-FR"/>
            <a:t>RNCP34509BC01 - Diriger des projets numériques</a:t>
          </a:r>
          <a:endParaRPr lang="en-US"/>
        </a:p>
      </dgm:t>
    </dgm:pt>
    <dgm:pt modelId="{29E38A48-A326-47CC-BD33-95C2FF105173}" type="parTrans" cxnId="{668599DB-2CAB-49D7-9D47-F9A747B9CC32}">
      <dgm:prSet/>
      <dgm:spPr/>
      <dgm:t>
        <a:bodyPr/>
        <a:lstStyle/>
        <a:p>
          <a:endParaRPr lang="en-US"/>
        </a:p>
      </dgm:t>
    </dgm:pt>
    <dgm:pt modelId="{61B6E037-EFD2-4B58-A9C5-4022CFE06A83}" type="sibTrans" cxnId="{668599DB-2CAB-49D7-9D47-F9A747B9CC32}">
      <dgm:prSet/>
      <dgm:spPr/>
      <dgm:t>
        <a:bodyPr/>
        <a:lstStyle/>
        <a:p>
          <a:endParaRPr lang="en-US"/>
        </a:p>
      </dgm:t>
    </dgm:pt>
    <dgm:pt modelId="{3DE4F15A-83E7-4B54-8027-131156C2B060}">
      <dgm:prSet/>
      <dgm:spPr/>
      <dgm:t>
        <a:bodyPr/>
        <a:lstStyle/>
        <a:p>
          <a:r>
            <a:rPr lang="fr-FR"/>
            <a:t>RNCP34509BC02 - Elaborer des concepts innovants au travers une démarche de design</a:t>
          </a:r>
          <a:endParaRPr lang="en-US"/>
        </a:p>
      </dgm:t>
    </dgm:pt>
    <dgm:pt modelId="{9006EE71-E905-4C4E-B3FD-ED4E3C817030}" type="parTrans" cxnId="{D895A745-B931-447D-BE85-AE1C3E168BEF}">
      <dgm:prSet/>
      <dgm:spPr/>
      <dgm:t>
        <a:bodyPr/>
        <a:lstStyle/>
        <a:p>
          <a:endParaRPr lang="en-US"/>
        </a:p>
      </dgm:t>
    </dgm:pt>
    <dgm:pt modelId="{5B764265-372D-46EA-8155-79ABB7AEBA71}" type="sibTrans" cxnId="{D895A745-B931-447D-BE85-AE1C3E168BEF}">
      <dgm:prSet/>
      <dgm:spPr/>
      <dgm:t>
        <a:bodyPr/>
        <a:lstStyle/>
        <a:p>
          <a:endParaRPr lang="en-US"/>
        </a:p>
      </dgm:t>
    </dgm:pt>
    <dgm:pt modelId="{220A64B5-1351-4B66-B39B-486497B1BAA5}">
      <dgm:prSet/>
      <dgm:spPr/>
      <dgm:t>
        <a:bodyPr/>
        <a:lstStyle/>
        <a:p>
          <a:r>
            <a:rPr lang="fr-FR"/>
            <a:t>RNCP34509BC03 - Conseiller dans les choix et orientations technologiques de solutions numériques</a:t>
          </a:r>
          <a:endParaRPr lang="en-US"/>
        </a:p>
      </dgm:t>
    </dgm:pt>
    <dgm:pt modelId="{2BC0734F-1153-4C78-A2DB-057344378FEB}" type="parTrans" cxnId="{66D5F9B7-44A3-4289-B208-E46FE780737E}">
      <dgm:prSet/>
      <dgm:spPr/>
      <dgm:t>
        <a:bodyPr/>
        <a:lstStyle/>
        <a:p>
          <a:endParaRPr lang="en-US"/>
        </a:p>
      </dgm:t>
    </dgm:pt>
    <dgm:pt modelId="{51E371E9-088C-427D-B076-EB6493B5A470}" type="sibTrans" cxnId="{66D5F9B7-44A3-4289-B208-E46FE780737E}">
      <dgm:prSet/>
      <dgm:spPr/>
      <dgm:t>
        <a:bodyPr/>
        <a:lstStyle/>
        <a:p>
          <a:endParaRPr lang="en-US"/>
        </a:p>
      </dgm:t>
    </dgm:pt>
    <dgm:pt modelId="{1B564FF0-33B1-4691-B142-A480E6682641}" type="pres">
      <dgm:prSet presAssocID="{AD672D42-1DAB-436C-A4E9-A46E44B7EB4D}" presName="hierChild1" presStyleCnt="0">
        <dgm:presLayoutVars>
          <dgm:chPref val="1"/>
          <dgm:dir/>
          <dgm:animOne val="branch"/>
          <dgm:animLvl val="lvl"/>
          <dgm:resizeHandles/>
        </dgm:presLayoutVars>
      </dgm:prSet>
      <dgm:spPr/>
    </dgm:pt>
    <dgm:pt modelId="{E41517E4-BE4B-468E-9569-23C31ECFD35D}" type="pres">
      <dgm:prSet presAssocID="{61C3DA7B-642D-453E-8E61-3E5FB13D73CB}" presName="hierRoot1" presStyleCnt="0"/>
      <dgm:spPr/>
    </dgm:pt>
    <dgm:pt modelId="{AA28A50B-6B4A-4B4E-89CD-0C69C38639A0}" type="pres">
      <dgm:prSet presAssocID="{61C3DA7B-642D-453E-8E61-3E5FB13D73CB}" presName="composite" presStyleCnt="0"/>
      <dgm:spPr/>
    </dgm:pt>
    <dgm:pt modelId="{1732C88A-21FE-4534-9DAA-26FEE9E69087}" type="pres">
      <dgm:prSet presAssocID="{61C3DA7B-642D-453E-8E61-3E5FB13D73CB}" presName="background" presStyleLbl="node0" presStyleIdx="0" presStyleCnt="3"/>
      <dgm:spPr/>
    </dgm:pt>
    <dgm:pt modelId="{97B283E2-5FF3-47DF-B3A6-598403F77B86}" type="pres">
      <dgm:prSet presAssocID="{61C3DA7B-642D-453E-8E61-3E5FB13D73CB}" presName="text" presStyleLbl="fgAcc0" presStyleIdx="0" presStyleCnt="3">
        <dgm:presLayoutVars>
          <dgm:chPref val="3"/>
        </dgm:presLayoutVars>
      </dgm:prSet>
      <dgm:spPr/>
    </dgm:pt>
    <dgm:pt modelId="{695D8D8E-5742-4999-B364-40FDAB52DDDF}" type="pres">
      <dgm:prSet presAssocID="{61C3DA7B-642D-453E-8E61-3E5FB13D73CB}" presName="hierChild2" presStyleCnt="0"/>
      <dgm:spPr/>
    </dgm:pt>
    <dgm:pt modelId="{F8B301C9-F1F2-4ACD-B759-655A17ECB514}" type="pres">
      <dgm:prSet presAssocID="{3DE4F15A-83E7-4B54-8027-131156C2B060}" presName="hierRoot1" presStyleCnt="0"/>
      <dgm:spPr/>
    </dgm:pt>
    <dgm:pt modelId="{62C6AC70-BB50-4297-B830-A0C21D2F63AC}" type="pres">
      <dgm:prSet presAssocID="{3DE4F15A-83E7-4B54-8027-131156C2B060}" presName="composite" presStyleCnt="0"/>
      <dgm:spPr/>
    </dgm:pt>
    <dgm:pt modelId="{DA391C22-056D-4F56-9E38-4842494CBD7C}" type="pres">
      <dgm:prSet presAssocID="{3DE4F15A-83E7-4B54-8027-131156C2B060}" presName="background" presStyleLbl="node0" presStyleIdx="1" presStyleCnt="3"/>
      <dgm:spPr/>
    </dgm:pt>
    <dgm:pt modelId="{07D945F3-D525-4624-AC48-901C81962429}" type="pres">
      <dgm:prSet presAssocID="{3DE4F15A-83E7-4B54-8027-131156C2B060}" presName="text" presStyleLbl="fgAcc0" presStyleIdx="1" presStyleCnt="3">
        <dgm:presLayoutVars>
          <dgm:chPref val="3"/>
        </dgm:presLayoutVars>
      </dgm:prSet>
      <dgm:spPr/>
    </dgm:pt>
    <dgm:pt modelId="{F794BAA8-B5BB-4FBB-8CAD-7B2BA4307903}" type="pres">
      <dgm:prSet presAssocID="{3DE4F15A-83E7-4B54-8027-131156C2B060}" presName="hierChild2" presStyleCnt="0"/>
      <dgm:spPr/>
    </dgm:pt>
    <dgm:pt modelId="{A7079250-CEC2-4DA4-9A3B-91C6ECB03EEC}" type="pres">
      <dgm:prSet presAssocID="{220A64B5-1351-4B66-B39B-486497B1BAA5}" presName="hierRoot1" presStyleCnt="0"/>
      <dgm:spPr/>
    </dgm:pt>
    <dgm:pt modelId="{1D179BEE-807A-467A-8B09-0DE6D1CB89D4}" type="pres">
      <dgm:prSet presAssocID="{220A64B5-1351-4B66-B39B-486497B1BAA5}" presName="composite" presStyleCnt="0"/>
      <dgm:spPr/>
    </dgm:pt>
    <dgm:pt modelId="{13C14A55-E043-4E94-94D3-661AEE5F093D}" type="pres">
      <dgm:prSet presAssocID="{220A64B5-1351-4B66-B39B-486497B1BAA5}" presName="background" presStyleLbl="node0" presStyleIdx="2" presStyleCnt="3"/>
      <dgm:spPr/>
    </dgm:pt>
    <dgm:pt modelId="{A9A6675E-D2EB-4101-B0BC-1326A3A19D1F}" type="pres">
      <dgm:prSet presAssocID="{220A64B5-1351-4B66-B39B-486497B1BAA5}" presName="text" presStyleLbl="fgAcc0" presStyleIdx="2" presStyleCnt="3">
        <dgm:presLayoutVars>
          <dgm:chPref val="3"/>
        </dgm:presLayoutVars>
      </dgm:prSet>
      <dgm:spPr/>
    </dgm:pt>
    <dgm:pt modelId="{3C67FE7E-4A13-4A53-B785-FC29AC336E93}" type="pres">
      <dgm:prSet presAssocID="{220A64B5-1351-4B66-B39B-486497B1BAA5}" presName="hierChild2" presStyleCnt="0"/>
      <dgm:spPr/>
    </dgm:pt>
  </dgm:ptLst>
  <dgm:cxnLst>
    <dgm:cxn modelId="{2D099314-D0CA-439B-811B-5DF9B19DC12A}" type="presOf" srcId="{3DE4F15A-83E7-4B54-8027-131156C2B060}" destId="{07D945F3-D525-4624-AC48-901C81962429}" srcOrd="0" destOrd="0" presId="urn:microsoft.com/office/officeart/2005/8/layout/hierarchy1"/>
    <dgm:cxn modelId="{D895A745-B931-447D-BE85-AE1C3E168BEF}" srcId="{AD672D42-1DAB-436C-A4E9-A46E44B7EB4D}" destId="{3DE4F15A-83E7-4B54-8027-131156C2B060}" srcOrd="1" destOrd="0" parTransId="{9006EE71-E905-4C4E-B3FD-ED4E3C817030}" sibTransId="{5B764265-372D-46EA-8155-79ABB7AEBA71}"/>
    <dgm:cxn modelId="{6290A777-9D75-45A2-AB34-2E38D313E182}" type="presOf" srcId="{61C3DA7B-642D-453E-8E61-3E5FB13D73CB}" destId="{97B283E2-5FF3-47DF-B3A6-598403F77B86}" srcOrd="0" destOrd="0" presId="urn:microsoft.com/office/officeart/2005/8/layout/hierarchy1"/>
    <dgm:cxn modelId="{66D5F9B7-44A3-4289-B208-E46FE780737E}" srcId="{AD672D42-1DAB-436C-A4E9-A46E44B7EB4D}" destId="{220A64B5-1351-4B66-B39B-486497B1BAA5}" srcOrd="2" destOrd="0" parTransId="{2BC0734F-1153-4C78-A2DB-057344378FEB}" sibTransId="{51E371E9-088C-427D-B076-EB6493B5A470}"/>
    <dgm:cxn modelId="{C9C977CD-A353-4FDC-A297-C4A3601351DA}" type="presOf" srcId="{220A64B5-1351-4B66-B39B-486497B1BAA5}" destId="{A9A6675E-D2EB-4101-B0BC-1326A3A19D1F}" srcOrd="0" destOrd="0" presId="urn:microsoft.com/office/officeart/2005/8/layout/hierarchy1"/>
    <dgm:cxn modelId="{668599DB-2CAB-49D7-9D47-F9A747B9CC32}" srcId="{AD672D42-1DAB-436C-A4E9-A46E44B7EB4D}" destId="{61C3DA7B-642D-453E-8E61-3E5FB13D73CB}" srcOrd="0" destOrd="0" parTransId="{29E38A48-A326-47CC-BD33-95C2FF105173}" sibTransId="{61B6E037-EFD2-4B58-A9C5-4022CFE06A83}"/>
    <dgm:cxn modelId="{5A643EE9-1DE7-42C8-AE40-F374D8A6EFF3}" type="presOf" srcId="{AD672D42-1DAB-436C-A4E9-A46E44B7EB4D}" destId="{1B564FF0-33B1-4691-B142-A480E6682641}" srcOrd="0" destOrd="0" presId="urn:microsoft.com/office/officeart/2005/8/layout/hierarchy1"/>
    <dgm:cxn modelId="{6CE0A40E-04BB-4D2C-A518-471CA750A7F9}" type="presParOf" srcId="{1B564FF0-33B1-4691-B142-A480E6682641}" destId="{E41517E4-BE4B-468E-9569-23C31ECFD35D}" srcOrd="0" destOrd="0" presId="urn:microsoft.com/office/officeart/2005/8/layout/hierarchy1"/>
    <dgm:cxn modelId="{4CE76F93-8F54-45FE-B54A-146031AC59FA}" type="presParOf" srcId="{E41517E4-BE4B-468E-9569-23C31ECFD35D}" destId="{AA28A50B-6B4A-4B4E-89CD-0C69C38639A0}" srcOrd="0" destOrd="0" presId="urn:microsoft.com/office/officeart/2005/8/layout/hierarchy1"/>
    <dgm:cxn modelId="{13CCF859-2C55-4E93-A5E8-34E9A053AE97}" type="presParOf" srcId="{AA28A50B-6B4A-4B4E-89CD-0C69C38639A0}" destId="{1732C88A-21FE-4534-9DAA-26FEE9E69087}" srcOrd="0" destOrd="0" presId="urn:microsoft.com/office/officeart/2005/8/layout/hierarchy1"/>
    <dgm:cxn modelId="{F3FE06E0-F406-415B-98DD-18EADE7B51E2}" type="presParOf" srcId="{AA28A50B-6B4A-4B4E-89CD-0C69C38639A0}" destId="{97B283E2-5FF3-47DF-B3A6-598403F77B86}" srcOrd="1" destOrd="0" presId="urn:microsoft.com/office/officeart/2005/8/layout/hierarchy1"/>
    <dgm:cxn modelId="{3759D6EA-EA5B-4B29-8E79-F6C6D34A2AE6}" type="presParOf" srcId="{E41517E4-BE4B-468E-9569-23C31ECFD35D}" destId="{695D8D8E-5742-4999-B364-40FDAB52DDDF}" srcOrd="1" destOrd="0" presId="urn:microsoft.com/office/officeart/2005/8/layout/hierarchy1"/>
    <dgm:cxn modelId="{AD2F54B8-D260-4F49-AFC0-619C4FC9C35C}" type="presParOf" srcId="{1B564FF0-33B1-4691-B142-A480E6682641}" destId="{F8B301C9-F1F2-4ACD-B759-655A17ECB514}" srcOrd="1" destOrd="0" presId="urn:microsoft.com/office/officeart/2005/8/layout/hierarchy1"/>
    <dgm:cxn modelId="{5F38BD5C-251E-4077-BD35-72AC2BA5E610}" type="presParOf" srcId="{F8B301C9-F1F2-4ACD-B759-655A17ECB514}" destId="{62C6AC70-BB50-4297-B830-A0C21D2F63AC}" srcOrd="0" destOrd="0" presId="urn:microsoft.com/office/officeart/2005/8/layout/hierarchy1"/>
    <dgm:cxn modelId="{EB51C032-739A-4D10-91FB-E7F294B96AFD}" type="presParOf" srcId="{62C6AC70-BB50-4297-B830-A0C21D2F63AC}" destId="{DA391C22-056D-4F56-9E38-4842494CBD7C}" srcOrd="0" destOrd="0" presId="urn:microsoft.com/office/officeart/2005/8/layout/hierarchy1"/>
    <dgm:cxn modelId="{3F58EC5E-734F-4EBD-97B2-B3382788AD9A}" type="presParOf" srcId="{62C6AC70-BB50-4297-B830-A0C21D2F63AC}" destId="{07D945F3-D525-4624-AC48-901C81962429}" srcOrd="1" destOrd="0" presId="urn:microsoft.com/office/officeart/2005/8/layout/hierarchy1"/>
    <dgm:cxn modelId="{FF3D5C6F-B00C-4963-A24F-9DE7A08F7E36}" type="presParOf" srcId="{F8B301C9-F1F2-4ACD-B759-655A17ECB514}" destId="{F794BAA8-B5BB-4FBB-8CAD-7B2BA4307903}" srcOrd="1" destOrd="0" presId="urn:microsoft.com/office/officeart/2005/8/layout/hierarchy1"/>
    <dgm:cxn modelId="{7A8B57E9-9853-4845-8EA2-AB35AD40D6D1}" type="presParOf" srcId="{1B564FF0-33B1-4691-B142-A480E6682641}" destId="{A7079250-CEC2-4DA4-9A3B-91C6ECB03EEC}" srcOrd="2" destOrd="0" presId="urn:microsoft.com/office/officeart/2005/8/layout/hierarchy1"/>
    <dgm:cxn modelId="{C3C9D5BD-AEC3-47AB-B78E-B93AA7C4FEAB}" type="presParOf" srcId="{A7079250-CEC2-4DA4-9A3B-91C6ECB03EEC}" destId="{1D179BEE-807A-467A-8B09-0DE6D1CB89D4}" srcOrd="0" destOrd="0" presId="urn:microsoft.com/office/officeart/2005/8/layout/hierarchy1"/>
    <dgm:cxn modelId="{DD9ED69A-FA23-4E66-B67A-DFAB4E33A7B0}" type="presParOf" srcId="{1D179BEE-807A-467A-8B09-0DE6D1CB89D4}" destId="{13C14A55-E043-4E94-94D3-661AEE5F093D}" srcOrd="0" destOrd="0" presId="urn:microsoft.com/office/officeart/2005/8/layout/hierarchy1"/>
    <dgm:cxn modelId="{6000FF79-B874-430B-890F-E2701D935BA9}" type="presParOf" srcId="{1D179BEE-807A-467A-8B09-0DE6D1CB89D4}" destId="{A9A6675E-D2EB-4101-B0BC-1326A3A19D1F}" srcOrd="1" destOrd="0" presId="urn:microsoft.com/office/officeart/2005/8/layout/hierarchy1"/>
    <dgm:cxn modelId="{14F12271-B2CF-487D-ACC2-894E9936E03C}" type="presParOf" srcId="{A7079250-CEC2-4DA4-9A3B-91C6ECB03EEC}" destId="{3C67FE7E-4A13-4A53-B785-FC29AC336E9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3CA0F5-66A8-45A2-8826-CEB0A2915B6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7F7264D-B913-444B-A6F9-2804CCF3DF30}">
      <dgm:prSet/>
      <dgm:spPr/>
      <dgm:t>
        <a:bodyPr/>
        <a:lstStyle/>
        <a:p>
          <a:pPr>
            <a:lnSpc>
              <a:spcPct val="100000"/>
            </a:lnSpc>
          </a:pPr>
          <a:r>
            <a:rPr lang="fr-FR"/>
            <a:t>Mise en place d’un outil de suivi de planning par groupe (Trello, Jira, Confluence, …) -&gt; Arturo / Alison doivent y avoir accès</a:t>
          </a:r>
          <a:endParaRPr lang="en-US"/>
        </a:p>
      </dgm:t>
    </dgm:pt>
    <dgm:pt modelId="{5D095171-4098-40F9-BF95-1FE8C4203687}" type="parTrans" cxnId="{A2C73B11-01FA-47A8-8BA9-CAB645C06ACA}">
      <dgm:prSet/>
      <dgm:spPr/>
      <dgm:t>
        <a:bodyPr/>
        <a:lstStyle/>
        <a:p>
          <a:endParaRPr lang="en-US"/>
        </a:p>
      </dgm:t>
    </dgm:pt>
    <dgm:pt modelId="{562856E0-1483-45FB-8D66-15CFF6AA4F28}" type="sibTrans" cxnId="{A2C73B11-01FA-47A8-8BA9-CAB645C06ACA}">
      <dgm:prSet/>
      <dgm:spPr/>
      <dgm:t>
        <a:bodyPr/>
        <a:lstStyle/>
        <a:p>
          <a:endParaRPr lang="en-US"/>
        </a:p>
      </dgm:t>
    </dgm:pt>
    <dgm:pt modelId="{30E7DA45-9DB6-4753-A89B-D64DD70F1F5E}">
      <dgm:prSet/>
      <dgm:spPr/>
      <dgm:t>
        <a:bodyPr/>
        <a:lstStyle/>
        <a:p>
          <a:pPr>
            <a:lnSpc>
              <a:spcPct val="100000"/>
            </a:lnSpc>
          </a:pPr>
          <a:r>
            <a:rPr lang="fr-FR"/>
            <a:t>1 Github par groupe pour le versioning et la collaboration</a:t>
          </a:r>
          <a:endParaRPr lang="en-US"/>
        </a:p>
      </dgm:t>
    </dgm:pt>
    <dgm:pt modelId="{2924B61F-2519-4D7B-B1C4-C737DABD0EBF}" type="parTrans" cxnId="{E485EC5D-ED30-4A8D-ABE1-C49354A3939E}">
      <dgm:prSet/>
      <dgm:spPr/>
      <dgm:t>
        <a:bodyPr/>
        <a:lstStyle/>
        <a:p>
          <a:endParaRPr lang="en-US"/>
        </a:p>
      </dgm:t>
    </dgm:pt>
    <dgm:pt modelId="{BDDC40A2-3E96-444F-B796-FC6EE2C0F0A9}" type="sibTrans" cxnId="{E485EC5D-ED30-4A8D-ABE1-C49354A3939E}">
      <dgm:prSet/>
      <dgm:spPr/>
      <dgm:t>
        <a:bodyPr/>
        <a:lstStyle/>
        <a:p>
          <a:endParaRPr lang="en-US"/>
        </a:p>
      </dgm:t>
    </dgm:pt>
    <dgm:pt modelId="{E257DA44-C287-438D-BE7D-DBD4A891373B}" type="pres">
      <dgm:prSet presAssocID="{303CA0F5-66A8-45A2-8826-CEB0A2915B6C}" presName="root" presStyleCnt="0">
        <dgm:presLayoutVars>
          <dgm:dir/>
          <dgm:resizeHandles val="exact"/>
        </dgm:presLayoutVars>
      </dgm:prSet>
      <dgm:spPr/>
    </dgm:pt>
    <dgm:pt modelId="{3255504F-05F4-4632-AD8D-E756E487ACDE}" type="pres">
      <dgm:prSet presAssocID="{97F7264D-B913-444B-A6F9-2804CCF3DF30}" presName="compNode" presStyleCnt="0"/>
      <dgm:spPr/>
    </dgm:pt>
    <dgm:pt modelId="{4CD54D33-98B4-4778-8B54-0B595F88C812}" type="pres">
      <dgm:prSet presAssocID="{97F7264D-B913-444B-A6F9-2804CCF3DF30}" presName="bgRect" presStyleLbl="bgShp" presStyleIdx="0" presStyleCnt="2"/>
      <dgm:spPr/>
    </dgm:pt>
    <dgm:pt modelId="{C96450E4-410C-476F-B4B1-188D6BC1A9E2}" type="pres">
      <dgm:prSet presAssocID="{97F7264D-B913-444B-A6F9-2804CCF3DF30}"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ranching Diagram"/>
        </a:ext>
      </dgm:extLst>
    </dgm:pt>
    <dgm:pt modelId="{B0292FCB-D84B-425E-9D41-A0904152BABB}" type="pres">
      <dgm:prSet presAssocID="{97F7264D-B913-444B-A6F9-2804CCF3DF30}" presName="spaceRect" presStyleCnt="0"/>
      <dgm:spPr/>
    </dgm:pt>
    <dgm:pt modelId="{D537D6C5-CB7C-4416-8023-BE6D3CCE7AF7}" type="pres">
      <dgm:prSet presAssocID="{97F7264D-B913-444B-A6F9-2804CCF3DF30}" presName="parTx" presStyleLbl="revTx" presStyleIdx="0" presStyleCnt="2">
        <dgm:presLayoutVars>
          <dgm:chMax val="0"/>
          <dgm:chPref val="0"/>
        </dgm:presLayoutVars>
      </dgm:prSet>
      <dgm:spPr/>
    </dgm:pt>
    <dgm:pt modelId="{239C04E4-9E07-42D9-BFEA-A12070986F0F}" type="pres">
      <dgm:prSet presAssocID="{562856E0-1483-45FB-8D66-15CFF6AA4F28}" presName="sibTrans" presStyleCnt="0"/>
      <dgm:spPr/>
    </dgm:pt>
    <dgm:pt modelId="{20848013-930B-492E-B641-FF4527F31D8D}" type="pres">
      <dgm:prSet presAssocID="{30E7DA45-9DB6-4753-A89B-D64DD70F1F5E}" presName="compNode" presStyleCnt="0"/>
      <dgm:spPr/>
    </dgm:pt>
    <dgm:pt modelId="{1FC8B735-A86E-432A-901F-4564AE68A38B}" type="pres">
      <dgm:prSet presAssocID="{30E7DA45-9DB6-4753-A89B-D64DD70F1F5E}" presName="bgRect" presStyleLbl="bgShp" presStyleIdx="1" presStyleCnt="2"/>
      <dgm:spPr/>
    </dgm:pt>
    <dgm:pt modelId="{ED66050A-1807-43E1-B9A1-8EDDE6CC1F90}" type="pres">
      <dgm:prSet presAssocID="{30E7DA45-9DB6-4753-A89B-D64DD70F1F5E}"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che"/>
        </a:ext>
      </dgm:extLst>
    </dgm:pt>
    <dgm:pt modelId="{92E993F6-F196-40AE-996C-CF6980229402}" type="pres">
      <dgm:prSet presAssocID="{30E7DA45-9DB6-4753-A89B-D64DD70F1F5E}" presName="spaceRect" presStyleCnt="0"/>
      <dgm:spPr/>
    </dgm:pt>
    <dgm:pt modelId="{91513BD8-7441-41A4-953C-4BA95C321F39}" type="pres">
      <dgm:prSet presAssocID="{30E7DA45-9DB6-4753-A89B-D64DD70F1F5E}" presName="parTx" presStyleLbl="revTx" presStyleIdx="1" presStyleCnt="2">
        <dgm:presLayoutVars>
          <dgm:chMax val="0"/>
          <dgm:chPref val="0"/>
        </dgm:presLayoutVars>
      </dgm:prSet>
      <dgm:spPr/>
    </dgm:pt>
  </dgm:ptLst>
  <dgm:cxnLst>
    <dgm:cxn modelId="{A2C73B11-01FA-47A8-8BA9-CAB645C06ACA}" srcId="{303CA0F5-66A8-45A2-8826-CEB0A2915B6C}" destId="{97F7264D-B913-444B-A6F9-2804CCF3DF30}" srcOrd="0" destOrd="0" parTransId="{5D095171-4098-40F9-BF95-1FE8C4203687}" sibTransId="{562856E0-1483-45FB-8D66-15CFF6AA4F28}"/>
    <dgm:cxn modelId="{E485EC5D-ED30-4A8D-ABE1-C49354A3939E}" srcId="{303CA0F5-66A8-45A2-8826-CEB0A2915B6C}" destId="{30E7DA45-9DB6-4753-A89B-D64DD70F1F5E}" srcOrd="1" destOrd="0" parTransId="{2924B61F-2519-4D7B-B1C4-C737DABD0EBF}" sibTransId="{BDDC40A2-3E96-444F-B796-FC6EE2C0F0A9}"/>
    <dgm:cxn modelId="{3790AD6E-958D-4DD4-8715-57E169C7CF46}" type="presOf" srcId="{30E7DA45-9DB6-4753-A89B-D64DD70F1F5E}" destId="{91513BD8-7441-41A4-953C-4BA95C321F39}" srcOrd="0" destOrd="0" presId="urn:microsoft.com/office/officeart/2018/2/layout/IconVerticalSolidList"/>
    <dgm:cxn modelId="{5ABBA88F-966A-4FD4-904B-45D6334F03CC}" type="presOf" srcId="{97F7264D-B913-444B-A6F9-2804CCF3DF30}" destId="{D537D6C5-CB7C-4416-8023-BE6D3CCE7AF7}" srcOrd="0" destOrd="0" presId="urn:microsoft.com/office/officeart/2018/2/layout/IconVerticalSolidList"/>
    <dgm:cxn modelId="{D890769D-07AC-4048-91A1-8062F681F254}" type="presOf" srcId="{303CA0F5-66A8-45A2-8826-CEB0A2915B6C}" destId="{E257DA44-C287-438D-BE7D-DBD4A891373B}" srcOrd="0" destOrd="0" presId="urn:microsoft.com/office/officeart/2018/2/layout/IconVerticalSolidList"/>
    <dgm:cxn modelId="{80F617B4-37F1-445D-B3C2-2F0710E903CE}" type="presParOf" srcId="{E257DA44-C287-438D-BE7D-DBD4A891373B}" destId="{3255504F-05F4-4632-AD8D-E756E487ACDE}" srcOrd="0" destOrd="0" presId="urn:microsoft.com/office/officeart/2018/2/layout/IconVerticalSolidList"/>
    <dgm:cxn modelId="{26C9CD1A-7BD2-405F-80A9-E47C4E93D48D}" type="presParOf" srcId="{3255504F-05F4-4632-AD8D-E756E487ACDE}" destId="{4CD54D33-98B4-4778-8B54-0B595F88C812}" srcOrd="0" destOrd="0" presId="urn:microsoft.com/office/officeart/2018/2/layout/IconVerticalSolidList"/>
    <dgm:cxn modelId="{6048AEC2-F1E3-4BB8-8704-0D84468E73EC}" type="presParOf" srcId="{3255504F-05F4-4632-AD8D-E756E487ACDE}" destId="{C96450E4-410C-476F-B4B1-188D6BC1A9E2}" srcOrd="1" destOrd="0" presId="urn:microsoft.com/office/officeart/2018/2/layout/IconVerticalSolidList"/>
    <dgm:cxn modelId="{4DFCE151-F92A-44F2-8C1D-083421E3E8D3}" type="presParOf" srcId="{3255504F-05F4-4632-AD8D-E756E487ACDE}" destId="{B0292FCB-D84B-425E-9D41-A0904152BABB}" srcOrd="2" destOrd="0" presId="urn:microsoft.com/office/officeart/2018/2/layout/IconVerticalSolidList"/>
    <dgm:cxn modelId="{C47399DA-2EB9-4E2E-B56C-0D5410E8FA00}" type="presParOf" srcId="{3255504F-05F4-4632-AD8D-E756E487ACDE}" destId="{D537D6C5-CB7C-4416-8023-BE6D3CCE7AF7}" srcOrd="3" destOrd="0" presId="urn:microsoft.com/office/officeart/2018/2/layout/IconVerticalSolidList"/>
    <dgm:cxn modelId="{E5223896-AAE0-43CA-BC4D-0539A91386CC}" type="presParOf" srcId="{E257DA44-C287-438D-BE7D-DBD4A891373B}" destId="{239C04E4-9E07-42D9-BFEA-A12070986F0F}" srcOrd="1" destOrd="0" presId="urn:microsoft.com/office/officeart/2018/2/layout/IconVerticalSolidList"/>
    <dgm:cxn modelId="{84F8F384-EDC1-45F5-8415-9A5635456878}" type="presParOf" srcId="{E257DA44-C287-438D-BE7D-DBD4A891373B}" destId="{20848013-930B-492E-B641-FF4527F31D8D}" srcOrd="2" destOrd="0" presId="urn:microsoft.com/office/officeart/2018/2/layout/IconVerticalSolidList"/>
    <dgm:cxn modelId="{B9E04EB0-DE59-4EBA-BAB9-5006866E6F4A}" type="presParOf" srcId="{20848013-930B-492E-B641-FF4527F31D8D}" destId="{1FC8B735-A86E-432A-901F-4564AE68A38B}" srcOrd="0" destOrd="0" presId="urn:microsoft.com/office/officeart/2018/2/layout/IconVerticalSolidList"/>
    <dgm:cxn modelId="{D7663475-7F55-4958-9FA9-4591BD23EE18}" type="presParOf" srcId="{20848013-930B-492E-B641-FF4527F31D8D}" destId="{ED66050A-1807-43E1-B9A1-8EDDE6CC1F90}" srcOrd="1" destOrd="0" presId="urn:microsoft.com/office/officeart/2018/2/layout/IconVerticalSolidList"/>
    <dgm:cxn modelId="{BB9C2EB5-A678-4EC7-9EB4-43B3BEF38798}" type="presParOf" srcId="{20848013-930B-492E-B641-FF4527F31D8D}" destId="{92E993F6-F196-40AE-996C-CF6980229402}" srcOrd="2" destOrd="0" presId="urn:microsoft.com/office/officeart/2018/2/layout/IconVerticalSolidList"/>
    <dgm:cxn modelId="{80FEA260-99DC-473C-A003-56BD5CB24C0E}" type="presParOf" srcId="{20848013-930B-492E-B641-FF4527F31D8D}" destId="{91513BD8-7441-41A4-953C-4BA95C321F3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300418-0E3A-4F19-9B1C-D6BFDDDB44FD}">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469E71-15FC-4336-9809-449D63971941}">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9963E0-04E6-44C0-AE01-1D62A9C72A76}">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fr-FR" sz="2500" kern="1200"/>
            <a:t>Principalement Alison + Arturo, Marc-Henri interviendra 2j (4 et 6 Mai)</a:t>
          </a:r>
          <a:endParaRPr lang="en-US" sz="2500" kern="1200"/>
        </a:p>
      </dsp:txBody>
      <dsp:txXfrm>
        <a:off x="1435590" y="531"/>
        <a:ext cx="9080009" cy="1242935"/>
      </dsp:txXfrm>
    </dsp:sp>
    <dsp:sp modelId="{12808985-8998-49B9-8B26-AA9018D389AF}">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889808-3EB2-4E75-BE93-3EE36E01C6F8}">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A7C833-8044-41EC-BCCF-3D0E02A00C0D}">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fr-FR" sz="2500" kern="1200"/>
            <a:t>Projet par groupe de 4</a:t>
          </a:r>
          <a:endParaRPr lang="en-US" sz="2500" kern="1200"/>
        </a:p>
      </dsp:txBody>
      <dsp:txXfrm>
        <a:off x="1435590" y="1554201"/>
        <a:ext cx="9080009" cy="1242935"/>
      </dsp:txXfrm>
    </dsp:sp>
    <dsp:sp modelId="{C0784184-159A-4EF6-8788-ABE52E294E87}">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069FE6-063F-4D9A-91F7-8EC048D7E6CB}">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0895F3-2668-40AA-8DB2-358943CC6703}">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fr-FR" sz="2500" kern="1200"/>
            <a:t>Examen le 15/9</a:t>
          </a:r>
          <a:endParaRPr lang="en-US" sz="2500" kern="1200"/>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32C88A-21FE-4534-9DAA-26FEE9E69087}">
      <dsp:nvSpPr>
        <dsp:cNvPr id="0" name=""/>
        <dsp:cNvSpPr/>
      </dsp:nvSpPr>
      <dsp:spPr>
        <a:xfrm>
          <a:off x="0"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B283E2-5FF3-47DF-B3A6-598403F77B86}">
      <dsp:nvSpPr>
        <dsp:cNvPr id="0" name=""/>
        <dsp:cNvSpPr/>
      </dsp:nvSpPr>
      <dsp:spPr>
        <a:xfrm>
          <a:off x="328612"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a:t>RNCP34509BC01 - Diriger des projets numériques</a:t>
          </a:r>
          <a:endParaRPr lang="en-US" sz="2200" kern="1200"/>
        </a:p>
      </dsp:txBody>
      <dsp:txXfrm>
        <a:off x="383617" y="1447754"/>
        <a:ext cx="2847502" cy="1768010"/>
      </dsp:txXfrm>
    </dsp:sp>
    <dsp:sp modelId="{DA391C22-056D-4F56-9E38-4842494CBD7C}">
      <dsp:nvSpPr>
        <dsp:cNvPr id="0" name=""/>
        <dsp:cNvSpPr/>
      </dsp:nvSpPr>
      <dsp:spPr>
        <a:xfrm>
          <a:off x="3614737"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D945F3-D525-4624-AC48-901C81962429}">
      <dsp:nvSpPr>
        <dsp:cNvPr id="0" name=""/>
        <dsp:cNvSpPr/>
      </dsp:nvSpPr>
      <dsp:spPr>
        <a:xfrm>
          <a:off x="3943350"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a:t>RNCP34509BC02 - Elaborer des concepts innovants au travers une démarche de design</a:t>
          </a:r>
          <a:endParaRPr lang="en-US" sz="2200" kern="1200"/>
        </a:p>
      </dsp:txBody>
      <dsp:txXfrm>
        <a:off x="3998355" y="1447754"/>
        <a:ext cx="2847502" cy="1768010"/>
      </dsp:txXfrm>
    </dsp:sp>
    <dsp:sp modelId="{13C14A55-E043-4E94-94D3-661AEE5F093D}">
      <dsp:nvSpPr>
        <dsp:cNvPr id="0" name=""/>
        <dsp:cNvSpPr/>
      </dsp:nvSpPr>
      <dsp:spPr>
        <a:xfrm>
          <a:off x="7229475"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A6675E-D2EB-4101-B0BC-1326A3A19D1F}">
      <dsp:nvSpPr>
        <dsp:cNvPr id="0" name=""/>
        <dsp:cNvSpPr/>
      </dsp:nvSpPr>
      <dsp:spPr>
        <a:xfrm>
          <a:off x="7558087"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a:t>RNCP34509BC03 - Conseiller dans les choix et orientations technologiques de solutions numériques</a:t>
          </a:r>
          <a:endParaRPr lang="en-US" sz="2200" kern="1200"/>
        </a:p>
      </dsp:txBody>
      <dsp:txXfrm>
        <a:off x="7613092" y="1447754"/>
        <a:ext cx="2847502" cy="17680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D54D33-98B4-4778-8B54-0B595F88C812}">
      <dsp:nvSpPr>
        <dsp:cNvPr id="0" name=""/>
        <dsp:cNvSpPr/>
      </dsp:nvSpPr>
      <dsp:spPr>
        <a:xfrm>
          <a:off x="0" y="707092"/>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6450E4-410C-476F-B4B1-188D6BC1A9E2}">
      <dsp:nvSpPr>
        <dsp:cNvPr id="0" name=""/>
        <dsp:cNvSpPr/>
      </dsp:nvSpPr>
      <dsp:spPr>
        <a:xfrm>
          <a:off x="394883" y="1000807"/>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37D6C5-CB7C-4416-8023-BE6D3CCE7AF7}">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fr-FR" sz="2500" kern="1200"/>
            <a:t>Mise en place d’un outil de suivi de planning par groupe (Trello, Jira, Confluence, …) -&gt; Arturo / Alison doivent y avoir accès</a:t>
          </a:r>
          <a:endParaRPr lang="en-US" sz="2500" kern="1200"/>
        </a:p>
      </dsp:txBody>
      <dsp:txXfrm>
        <a:off x="1507738" y="707092"/>
        <a:ext cx="9007861" cy="1305401"/>
      </dsp:txXfrm>
    </dsp:sp>
    <dsp:sp modelId="{1FC8B735-A86E-432A-901F-4564AE68A38B}">
      <dsp:nvSpPr>
        <dsp:cNvPr id="0" name=""/>
        <dsp:cNvSpPr/>
      </dsp:nvSpPr>
      <dsp:spPr>
        <a:xfrm>
          <a:off x="0" y="2338844"/>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66050A-1807-43E1-B9A1-8EDDE6CC1F90}">
      <dsp:nvSpPr>
        <dsp:cNvPr id="0" name=""/>
        <dsp:cNvSpPr/>
      </dsp:nvSpPr>
      <dsp:spPr>
        <a:xfrm>
          <a:off x="394883" y="2632559"/>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513BD8-7441-41A4-953C-4BA95C321F39}">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fr-FR" sz="2500" kern="1200"/>
            <a:t>1 Github par groupe pour le versioning et la collaboration</a:t>
          </a:r>
          <a:endParaRPr lang="en-US" sz="2500" kern="1200"/>
        </a:p>
      </dsp:txBody>
      <dsp:txXfrm>
        <a:off x="1507738" y="2338844"/>
        <a:ext cx="9007861" cy="130540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20E586-896A-9076-545B-A54513EE297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D846A19-6EC1-5B67-698C-296F737554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799CA05-0E9D-AC4F-7FC3-ADEABF1B8E0E}"/>
              </a:ext>
            </a:extLst>
          </p:cNvPr>
          <p:cNvSpPr>
            <a:spLocks noGrp="1"/>
          </p:cNvSpPr>
          <p:nvPr>
            <p:ph type="dt" sz="half" idx="10"/>
          </p:nvPr>
        </p:nvSpPr>
        <p:spPr/>
        <p:txBody>
          <a:bodyPr/>
          <a:lstStyle/>
          <a:p>
            <a:fld id="{5E2F6649-BB56-4760-9CDB-5161441E2B1F}"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E0B8C42A-6C95-5859-92C9-927BA1E1111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0412C83-3340-C693-EC3E-93A857DA5111}"/>
              </a:ext>
            </a:extLst>
          </p:cNvPr>
          <p:cNvSpPr>
            <a:spLocks noGrp="1"/>
          </p:cNvSpPr>
          <p:nvPr>
            <p:ph type="sldNum" sz="quarter" idx="12"/>
          </p:nvPr>
        </p:nvSpPr>
        <p:spPr/>
        <p:txBody>
          <a:bodyPr/>
          <a:lstStyle/>
          <a:p>
            <a:fld id="{68C08C15-D9C4-462A-86A0-8C6E56307658}" type="slidenum">
              <a:rPr lang="fr-FR" smtClean="0"/>
              <a:t>‹N°›</a:t>
            </a:fld>
            <a:endParaRPr lang="fr-FR"/>
          </a:p>
        </p:txBody>
      </p:sp>
    </p:spTree>
    <p:extLst>
      <p:ext uri="{BB962C8B-B14F-4D97-AF65-F5344CB8AC3E}">
        <p14:creationId xmlns:p14="http://schemas.microsoft.com/office/powerpoint/2010/main" val="3109960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D5DE67-914D-6410-DD4E-EC9F06034B8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4DFA4B8-F5D1-E40B-78B1-E377148EC3E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0A1666A-585E-9399-07C0-CA56A9A327EB}"/>
              </a:ext>
            </a:extLst>
          </p:cNvPr>
          <p:cNvSpPr>
            <a:spLocks noGrp="1"/>
          </p:cNvSpPr>
          <p:nvPr>
            <p:ph type="dt" sz="half" idx="10"/>
          </p:nvPr>
        </p:nvSpPr>
        <p:spPr/>
        <p:txBody>
          <a:bodyPr/>
          <a:lstStyle/>
          <a:p>
            <a:fld id="{5E2F6649-BB56-4760-9CDB-5161441E2B1F}"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2E461525-88CA-E5C5-5E9E-5D97114E6A2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1C81678-9086-577D-A0DF-511F8BD62984}"/>
              </a:ext>
            </a:extLst>
          </p:cNvPr>
          <p:cNvSpPr>
            <a:spLocks noGrp="1"/>
          </p:cNvSpPr>
          <p:nvPr>
            <p:ph type="sldNum" sz="quarter" idx="12"/>
          </p:nvPr>
        </p:nvSpPr>
        <p:spPr/>
        <p:txBody>
          <a:bodyPr/>
          <a:lstStyle/>
          <a:p>
            <a:fld id="{68C08C15-D9C4-462A-86A0-8C6E56307658}" type="slidenum">
              <a:rPr lang="fr-FR" smtClean="0"/>
              <a:t>‹N°›</a:t>
            </a:fld>
            <a:endParaRPr lang="fr-FR"/>
          </a:p>
        </p:txBody>
      </p:sp>
    </p:spTree>
    <p:extLst>
      <p:ext uri="{BB962C8B-B14F-4D97-AF65-F5344CB8AC3E}">
        <p14:creationId xmlns:p14="http://schemas.microsoft.com/office/powerpoint/2010/main" val="37449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0084A4-59BE-9A71-8401-CD7C947027E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DE676A80-A499-6F02-B18D-5E2C7D177C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173AAAC-5F32-C3EF-8376-300C74E83FE2}"/>
              </a:ext>
            </a:extLst>
          </p:cNvPr>
          <p:cNvSpPr>
            <a:spLocks noGrp="1"/>
          </p:cNvSpPr>
          <p:nvPr>
            <p:ph type="dt" sz="half" idx="10"/>
          </p:nvPr>
        </p:nvSpPr>
        <p:spPr/>
        <p:txBody>
          <a:bodyPr/>
          <a:lstStyle/>
          <a:p>
            <a:fld id="{5E2F6649-BB56-4760-9CDB-5161441E2B1F}"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A8F4A2D4-7EC7-FCEA-707C-95F5CFC29E9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FDF381F-DC3B-76FB-2FAD-ACD3C80C36E1}"/>
              </a:ext>
            </a:extLst>
          </p:cNvPr>
          <p:cNvSpPr>
            <a:spLocks noGrp="1"/>
          </p:cNvSpPr>
          <p:nvPr>
            <p:ph type="sldNum" sz="quarter" idx="12"/>
          </p:nvPr>
        </p:nvSpPr>
        <p:spPr/>
        <p:txBody>
          <a:bodyPr/>
          <a:lstStyle/>
          <a:p>
            <a:fld id="{68C08C15-D9C4-462A-86A0-8C6E56307658}" type="slidenum">
              <a:rPr lang="fr-FR" smtClean="0"/>
              <a:t>‹N°›</a:t>
            </a:fld>
            <a:endParaRPr lang="fr-FR"/>
          </a:p>
        </p:txBody>
      </p:sp>
    </p:spTree>
    <p:extLst>
      <p:ext uri="{BB962C8B-B14F-4D97-AF65-F5344CB8AC3E}">
        <p14:creationId xmlns:p14="http://schemas.microsoft.com/office/powerpoint/2010/main" val="1341061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879B2B-C021-06BE-2412-D342D8BB7CC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644BDC2-B81F-6B0B-6ADB-1BAF1251B6E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29892A8-5190-59DA-90BA-31EDB6F61B8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077F0EA8-C62E-5171-936A-3B732D2C9EF6}"/>
              </a:ext>
            </a:extLst>
          </p:cNvPr>
          <p:cNvSpPr>
            <a:spLocks noGrp="1"/>
          </p:cNvSpPr>
          <p:nvPr>
            <p:ph type="dt" sz="half" idx="10"/>
          </p:nvPr>
        </p:nvSpPr>
        <p:spPr/>
        <p:txBody>
          <a:bodyPr/>
          <a:lstStyle/>
          <a:p>
            <a:fld id="{5E2F6649-BB56-4760-9CDB-5161441E2B1F}" type="datetimeFigureOut">
              <a:rPr lang="fr-FR" smtClean="0"/>
              <a:t>06/04/2026</a:t>
            </a:fld>
            <a:endParaRPr lang="fr-FR"/>
          </a:p>
        </p:txBody>
      </p:sp>
      <p:sp>
        <p:nvSpPr>
          <p:cNvPr id="6" name="Espace réservé du pied de page 5">
            <a:extLst>
              <a:ext uri="{FF2B5EF4-FFF2-40B4-BE49-F238E27FC236}">
                <a16:creationId xmlns:a16="http://schemas.microsoft.com/office/drawing/2014/main" id="{0F7A7765-6ABA-7AF1-E878-49D45C4D10E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54DEA01-B1D2-6C1F-04EE-DD1D85361B6A}"/>
              </a:ext>
            </a:extLst>
          </p:cNvPr>
          <p:cNvSpPr>
            <a:spLocks noGrp="1"/>
          </p:cNvSpPr>
          <p:nvPr>
            <p:ph type="sldNum" sz="quarter" idx="12"/>
          </p:nvPr>
        </p:nvSpPr>
        <p:spPr/>
        <p:txBody>
          <a:bodyPr/>
          <a:lstStyle/>
          <a:p>
            <a:fld id="{68C08C15-D9C4-462A-86A0-8C6E56307658}" type="slidenum">
              <a:rPr lang="fr-FR" smtClean="0"/>
              <a:t>‹N°›</a:t>
            </a:fld>
            <a:endParaRPr lang="fr-FR"/>
          </a:p>
        </p:txBody>
      </p:sp>
    </p:spTree>
    <p:extLst>
      <p:ext uri="{BB962C8B-B14F-4D97-AF65-F5344CB8AC3E}">
        <p14:creationId xmlns:p14="http://schemas.microsoft.com/office/powerpoint/2010/main" val="2100264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4A9765-A6E5-20DF-13AE-7A9DEA6F436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0776F4D-9B8E-6CBA-BBF0-9448E414D4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F334EB8-912C-C882-A9A8-4AF8E6F445E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CB8E2D7-66E6-0781-4473-DA8861540D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D328794-6D5B-5658-D52F-0F1E5363510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7098D835-3261-81DA-82A3-88F8B1398747}"/>
              </a:ext>
            </a:extLst>
          </p:cNvPr>
          <p:cNvSpPr>
            <a:spLocks noGrp="1"/>
          </p:cNvSpPr>
          <p:nvPr>
            <p:ph type="dt" sz="half" idx="10"/>
          </p:nvPr>
        </p:nvSpPr>
        <p:spPr/>
        <p:txBody>
          <a:bodyPr/>
          <a:lstStyle/>
          <a:p>
            <a:fld id="{5E2F6649-BB56-4760-9CDB-5161441E2B1F}" type="datetimeFigureOut">
              <a:rPr lang="fr-FR" smtClean="0"/>
              <a:t>06/04/2026</a:t>
            </a:fld>
            <a:endParaRPr lang="fr-FR"/>
          </a:p>
        </p:txBody>
      </p:sp>
      <p:sp>
        <p:nvSpPr>
          <p:cNvPr id="8" name="Espace réservé du pied de page 7">
            <a:extLst>
              <a:ext uri="{FF2B5EF4-FFF2-40B4-BE49-F238E27FC236}">
                <a16:creationId xmlns:a16="http://schemas.microsoft.com/office/drawing/2014/main" id="{A167F159-C9F6-BA33-4D86-81D0CBC6898E}"/>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EB36232-5621-5B2B-5506-05E2E5669D59}"/>
              </a:ext>
            </a:extLst>
          </p:cNvPr>
          <p:cNvSpPr>
            <a:spLocks noGrp="1"/>
          </p:cNvSpPr>
          <p:nvPr>
            <p:ph type="sldNum" sz="quarter" idx="12"/>
          </p:nvPr>
        </p:nvSpPr>
        <p:spPr/>
        <p:txBody>
          <a:bodyPr/>
          <a:lstStyle/>
          <a:p>
            <a:fld id="{68C08C15-D9C4-462A-86A0-8C6E56307658}" type="slidenum">
              <a:rPr lang="fr-FR" smtClean="0"/>
              <a:t>‹N°›</a:t>
            </a:fld>
            <a:endParaRPr lang="fr-FR"/>
          </a:p>
        </p:txBody>
      </p:sp>
    </p:spTree>
    <p:extLst>
      <p:ext uri="{BB962C8B-B14F-4D97-AF65-F5344CB8AC3E}">
        <p14:creationId xmlns:p14="http://schemas.microsoft.com/office/powerpoint/2010/main" val="3146224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086F70-4952-F759-2899-ADA43AD6BB9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1FC81A4-4DFD-44F7-C9CC-ADBAE67253CD}"/>
              </a:ext>
            </a:extLst>
          </p:cNvPr>
          <p:cNvSpPr>
            <a:spLocks noGrp="1"/>
          </p:cNvSpPr>
          <p:nvPr>
            <p:ph type="dt" sz="half" idx="10"/>
          </p:nvPr>
        </p:nvSpPr>
        <p:spPr/>
        <p:txBody>
          <a:bodyPr/>
          <a:lstStyle/>
          <a:p>
            <a:fld id="{5E2F6649-BB56-4760-9CDB-5161441E2B1F}" type="datetimeFigureOut">
              <a:rPr lang="fr-FR" smtClean="0"/>
              <a:t>06/04/2026</a:t>
            </a:fld>
            <a:endParaRPr lang="fr-FR"/>
          </a:p>
        </p:txBody>
      </p:sp>
      <p:sp>
        <p:nvSpPr>
          <p:cNvPr id="4" name="Espace réservé du pied de page 3">
            <a:extLst>
              <a:ext uri="{FF2B5EF4-FFF2-40B4-BE49-F238E27FC236}">
                <a16:creationId xmlns:a16="http://schemas.microsoft.com/office/drawing/2014/main" id="{9E9A1C35-893C-93F3-5437-C0809C2D955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6D961D0-3A27-77F4-8308-AAE0C7C21293}"/>
              </a:ext>
            </a:extLst>
          </p:cNvPr>
          <p:cNvSpPr>
            <a:spLocks noGrp="1"/>
          </p:cNvSpPr>
          <p:nvPr>
            <p:ph type="sldNum" sz="quarter" idx="12"/>
          </p:nvPr>
        </p:nvSpPr>
        <p:spPr/>
        <p:txBody>
          <a:bodyPr/>
          <a:lstStyle/>
          <a:p>
            <a:fld id="{68C08C15-D9C4-462A-86A0-8C6E56307658}" type="slidenum">
              <a:rPr lang="fr-FR" smtClean="0"/>
              <a:t>‹N°›</a:t>
            </a:fld>
            <a:endParaRPr lang="fr-FR"/>
          </a:p>
        </p:txBody>
      </p:sp>
    </p:spTree>
    <p:extLst>
      <p:ext uri="{BB962C8B-B14F-4D97-AF65-F5344CB8AC3E}">
        <p14:creationId xmlns:p14="http://schemas.microsoft.com/office/powerpoint/2010/main" val="626726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71D6F8F-D6F2-40E0-3B23-BF9BD64D7C5A}"/>
              </a:ext>
            </a:extLst>
          </p:cNvPr>
          <p:cNvSpPr>
            <a:spLocks noGrp="1"/>
          </p:cNvSpPr>
          <p:nvPr>
            <p:ph type="dt" sz="half" idx="10"/>
          </p:nvPr>
        </p:nvSpPr>
        <p:spPr/>
        <p:txBody>
          <a:bodyPr/>
          <a:lstStyle/>
          <a:p>
            <a:fld id="{5E2F6649-BB56-4760-9CDB-5161441E2B1F}" type="datetimeFigureOut">
              <a:rPr lang="fr-FR" smtClean="0"/>
              <a:t>06/04/2026</a:t>
            </a:fld>
            <a:endParaRPr lang="fr-FR"/>
          </a:p>
        </p:txBody>
      </p:sp>
      <p:sp>
        <p:nvSpPr>
          <p:cNvPr id="3" name="Espace réservé du pied de page 2">
            <a:extLst>
              <a:ext uri="{FF2B5EF4-FFF2-40B4-BE49-F238E27FC236}">
                <a16:creationId xmlns:a16="http://schemas.microsoft.com/office/drawing/2014/main" id="{FF412B99-BC0C-EA6C-AA0A-805603BAE12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4AC64D9E-3884-0295-4777-F8F54CFF0102}"/>
              </a:ext>
            </a:extLst>
          </p:cNvPr>
          <p:cNvSpPr>
            <a:spLocks noGrp="1"/>
          </p:cNvSpPr>
          <p:nvPr>
            <p:ph type="sldNum" sz="quarter" idx="12"/>
          </p:nvPr>
        </p:nvSpPr>
        <p:spPr/>
        <p:txBody>
          <a:bodyPr/>
          <a:lstStyle/>
          <a:p>
            <a:fld id="{68C08C15-D9C4-462A-86A0-8C6E56307658}" type="slidenum">
              <a:rPr lang="fr-FR" smtClean="0"/>
              <a:t>‹N°›</a:t>
            </a:fld>
            <a:endParaRPr lang="fr-FR"/>
          </a:p>
        </p:txBody>
      </p:sp>
    </p:spTree>
    <p:extLst>
      <p:ext uri="{BB962C8B-B14F-4D97-AF65-F5344CB8AC3E}">
        <p14:creationId xmlns:p14="http://schemas.microsoft.com/office/powerpoint/2010/main" val="2067016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9BC517-202F-ED6E-34F2-9A38A55EFBA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4C60B45-B842-FDAA-42BB-AE99ADD56C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7C41C87-C7A0-43B5-4F4C-B6F9923CBE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CFD6D21-9BF0-354B-B77D-A9994A4E2EB5}"/>
              </a:ext>
            </a:extLst>
          </p:cNvPr>
          <p:cNvSpPr>
            <a:spLocks noGrp="1"/>
          </p:cNvSpPr>
          <p:nvPr>
            <p:ph type="dt" sz="half" idx="10"/>
          </p:nvPr>
        </p:nvSpPr>
        <p:spPr/>
        <p:txBody>
          <a:bodyPr/>
          <a:lstStyle/>
          <a:p>
            <a:fld id="{5E2F6649-BB56-4760-9CDB-5161441E2B1F}" type="datetimeFigureOut">
              <a:rPr lang="fr-FR" smtClean="0"/>
              <a:t>06/04/2026</a:t>
            </a:fld>
            <a:endParaRPr lang="fr-FR"/>
          </a:p>
        </p:txBody>
      </p:sp>
      <p:sp>
        <p:nvSpPr>
          <p:cNvPr id="6" name="Espace réservé du pied de page 5">
            <a:extLst>
              <a:ext uri="{FF2B5EF4-FFF2-40B4-BE49-F238E27FC236}">
                <a16:creationId xmlns:a16="http://schemas.microsoft.com/office/drawing/2014/main" id="{134F081C-348A-64D3-2D6E-0567C89A422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E01BC74-358A-D47E-FD26-435C22750072}"/>
              </a:ext>
            </a:extLst>
          </p:cNvPr>
          <p:cNvSpPr>
            <a:spLocks noGrp="1"/>
          </p:cNvSpPr>
          <p:nvPr>
            <p:ph type="sldNum" sz="quarter" idx="12"/>
          </p:nvPr>
        </p:nvSpPr>
        <p:spPr/>
        <p:txBody>
          <a:bodyPr/>
          <a:lstStyle/>
          <a:p>
            <a:fld id="{68C08C15-D9C4-462A-86A0-8C6E56307658}" type="slidenum">
              <a:rPr lang="fr-FR" smtClean="0"/>
              <a:t>‹N°›</a:t>
            </a:fld>
            <a:endParaRPr lang="fr-FR"/>
          </a:p>
        </p:txBody>
      </p:sp>
    </p:spTree>
    <p:extLst>
      <p:ext uri="{BB962C8B-B14F-4D97-AF65-F5344CB8AC3E}">
        <p14:creationId xmlns:p14="http://schemas.microsoft.com/office/powerpoint/2010/main" val="1768384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384883-33C5-297B-B400-E626CD937CD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A7EC6BC-EFAB-8687-797D-755AD0E8F4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8A23264-184E-7E95-0718-866B7374B2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7AF1E21-D7E0-F234-FA87-0BC750B95E59}"/>
              </a:ext>
            </a:extLst>
          </p:cNvPr>
          <p:cNvSpPr>
            <a:spLocks noGrp="1"/>
          </p:cNvSpPr>
          <p:nvPr>
            <p:ph type="dt" sz="half" idx="10"/>
          </p:nvPr>
        </p:nvSpPr>
        <p:spPr/>
        <p:txBody>
          <a:bodyPr/>
          <a:lstStyle/>
          <a:p>
            <a:fld id="{5E2F6649-BB56-4760-9CDB-5161441E2B1F}" type="datetimeFigureOut">
              <a:rPr lang="fr-FR" smtClean="0"/>
              <a:t>06/04/2026</a:t>
            </a:fld>
            <a:endParaRPr lang="fr-FR"/>
          </a:p>
        </p:txBody>
      </p:sp>
      <p:sp>
        <p:nvSpPr>
          <p:cNvPr id="6" name="Espace réservé du pied de page 5">
            <a:extLst>
              <a:ext uri="{FF2B5EF4-FFF2-40B4-BE49-F238E27FC236}">
                <a16:creationId xmlns:a16="http://schemas.microsoft.com/office/drawing/2014/main" id="{6B83C182-7677-AE33-9F0C-58564B354A5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4F16C98-C3FD-E018-F7FA-C0F0F8F27646}"/>
              </a:ext>
            </a:extLst>
          </p:cNvPr>
          <p:cNvSpPr>
            <a:spLocks noGrp="1"/>
          </p:cNvSpPr>
          <p:nvPr>
            <p:ph type="sldNum" sz="quarter" idx="12"/>
          </p:nvPr>
        </p:nvSpPr>
        <p:spPr/>
        <p:txBody>
          <a:bodyPr/>
          <a:lstStyle/>
          <a:p>
            <a:fld id="{68C08C15-D9C4-462A-86A0-8C6E56307658}" type="slidenum">
              <a:rPr lang="fr-FR" smtClean="0"/>
              <a:t>‹N°›</a:t>
            </a:fld>
            <a:endParaRPr lang="fr-FR"/>
          </a:p>
        </p:txBody>
      </p:sp>
    </p:spTree>
    <p:extLst>
      <p:ext uri="{BB962C8B-B14F-4D97-AF65-F5344CB8AC3E}">
        <p14:creationId xmlns:p14="http://schemas.microsoft.com/office/powerpoint/2010/main" val="4262798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2165DD-9BD0-0628-1168-6E298961C9F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0F4F5CA-4951-7C4A-458C-EED3ECC5B72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3152D78-3464-A040-2B99-CFDEA98C691A}"/>
              </a:ext>
            </a:extLst>
          </p:cNvPr>
          <p:cNvSpPr>
            <a:spLocks noGrp="1"/>
          </p:cNvSpPr>
          <p:nvPr>
            <p:ph type="dt" sz="half" idx="10"/>
          </p:nvPr>
        </p:nvSpPr>
        <p:spPr/>
        <p:txBody>
          <a:bodyPr/>
          <a:lstStyle/>
          <a:p>
            <a:fld id="{5E2F6649-BB56-4760-9CDB-5161441E2B1F}"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082610B6-71A7-4613-A1E3-AE818ED1CC3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99F4033-0EA4-E552-ECCD-163EE89B2BE2}"/>
              </a:ext>
            </a:extLst>
          </p:cNvPr>
          <p:cNvSpPr>
            <a:spLocks noGrp="1"/>
          </p:cNvSpPr>
          <p:nvPr>
            <p:ph type="sldNum" sz="quarter" idx="12"/>
          </p:nvPr>
        </p:nvSpPr>
        <p:spPr/>
        <p:txBody>
          <a:bodyPr/>
          <a:lstStyle/>
          <a:p>
            <a:fld id="{68C08C15-D9C4-462A-86A0-8C6E56307658}" type="slidenum">
              <a:rPr lang="fr-FR" smtClean="0"/>
              <a:t>‹N°›</a:t>
            </a:fld>
            <a:endParaRPr lang="fr-FR"/>
          </a:p>
        </p:txBody>
      </p:sp>
    </p:spTree>
    <p:extLst>
      <p:ext uri="{BB962C8B-B14F-4D97-AF65-F5344CB8AC3E}">
        <p14:creationId xmlns:p14="http://schemas.microsoft.com/office/powerpoint/2010/main" val="1427736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9C0C21A-4443-3038-C996-8F58697C61C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E8C2C88D-DD1A-75A5-86F5-05C1E24652D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18FF80D-A1D5-BC7D-D0C9-AA378FA8B0B0}"/>
              </a:ext>
            </a:extLst>
          </p:cNvPr>
          <p:cNvSpPr>
            <a:spLocks noGrp="1"/>
          </p:cNvSpPr>
          <p:nvPr>
            <p:ph type="dt" sz="half" idx="10"/>
          </p:nvPr>
        </p:nvSpPr>
        <p:spPr/>
        <p:txBody>
          <a:bodyPr/>
          <a:lstStyle/>
          <a:p>
            <a:fld id="{5E2F6649-BB56-4760-9CDB-5161441E2B1F}"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89A76EE1-0218-FF4D-93F0-485912DA6BB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4C8CD40-B7EE-5EF8-3470-388496DDC3D8}"/>
              </a:ext>
            </a:extLst>
          </p:cNvPr>
          <p:cNvSpPr>
            <a:spLocks noGrp="1"/>
          </p:cNvSpPr>
          <p:nvPr>
            <p:ph type="sldNum" sz="quarter" idx="12"/>
          </p:nvPr>
        </p:nvSpPr>
        <p:spPr/>
        <p:txBody>
          <a:bodyPr/>
          <a:lstStyle/>
          <a:p>
            <a:fld id="{68C08C15-D9C4-462A-86A0-8C6E56307658}" type="slidenum">
              <a:rPr lang="fr-FR" smtClean="0"/>
              <a:t>‹N°›</a:t>
            </a:fld>
            <a:endParaRPr lang="fr-FR"/>
          </a:p>
        </p:txBody>
      </p:sp>
    </p:spTree>
    <p:extLst>
      <p:ext uri="{BB962C8B-B14F-4D97-AF65-F5344CB8AC3E}">
        <p14:creationId xmlns:p14="http://schemas.microsoft.com/office/powerpoint/2010/main" val="993523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422AB18-6BCA-18C9-CCC0-66025140AD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D295CDA-6E94-D0D6-1CFF-1626ADFDF4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18C26FC-E3AC-6CDA-0A12-9A3A9E5CE2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2F6649-BB56-4760-9CDB-5161441E2B1F}"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58C6D1DB-6F03-A9ED-B4B0-C47315C469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A8286B9-65AA-6CC0-620C-D3D29F35BF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C08C15-D9C4-462A-86A0-8C6E56307658}" type="slidenum">
              <a:rPr lang="fr-FR" smtClean="0"/>
              <a:t>‹N°›</a:t>
            </a:fld>
            <a:endParaRPr lang="fr-FR"/>
          </a:p>
        </p:txBody>
      </p:sp>
    </p:spTree>
    <p:extLst>
      <p:ext uri="{BB962C8B-B14F-4D97-AF65-F5344CB8AC3E}">
        <p14:creationId xmlns:p14="http://schemas.microsoft.com/office/powerpoint/2010/main" val="21705151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2" Type="http://schemas.openxmlformats.org/officeDocument/2006/relationships/hyperlink" Target="https://drive.google.com/drive/folders/11qHpzu2oB2fx16FlXn7DpORshAUL8IKn?usp=drive_lin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ique financier numérique">
            <a:extLst>
              <a:ext uri="{FF2B5EF4-FFF2-40B4-BE49-F238E27FC236}">
                <a16:creationId xmlns:a16="http://schemas.microsoft.com/office/drawing/2014/main" id="{D9FCB109-1ED4-9C98-7981-675A016553F3}"/>
              </a:ext>
            </a:extLst>
          </p:cNvPr>
          <p:cNvPicPr>
            <a:picLocks noChangeAspect="1"/>
          </p:cNvPicPr>
          <p:nvPr/>
        </p:nvPicPr>
        <p:blipFill>
          <a:blip r:embed="rId2"/>
          <a:srcRect/>
          <a:stretch>
            <a:fill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DCF2624-0695-6E0E-85D8-52138537A745}"/>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fr-FR" sz="5200">
                <a:solidFill>
                  <a:srgbClr val="FFFFFF"/>
                </a:solidFill>
              </a:rPr>
              <a:t>Piloter un projet data</a:t>
            </a:r>
          </a:p>
        </p:txBody>
      </p:sp>
      <p:sp>
        <p:nvSpPr>
          <p:cNvPr id="3" name="Sous-titre 2">
            <a:extLst>
              <a:ext uri="{FF2B5EF4-FFF2-40B4-BE49-F238E27FC236}">
                <a16:creationId xmlns:a16="http://schemas.microsoft.com/office/drawing/2014/main" id="{290A5ECC-DA28-050B-9DAC-9EC06434D1E1}"/>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fr-FR" dirty="0">
                <a:solidFill>
                  <a:srgbClr val="FFFFFF"/>
                </a:solidFill>
              </a:rPr>
              <a:t> </a:t>
            </a:r>
          </a:p>
        </p:txBody>
      </p:sp>
    </p:spTree>
    <p:extLst>
      <p:ext uri="{BB962C8B-B14F-4D97-AF65-F5344CB8AC3E}">
        <p14:creationId xmlns:p14="http://schemas.microsoft.com/office/powerpoint/2010/main" val="353776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40410-7D9A-A6EB-2EA4-5B5B2A13E2D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DAB43DD-4A53-3D0A-F2FB-26435D92219E}"/>
              </a:ext>
            </a:extLst>
          </p:cNvPr>
          <p:cNvSpPr>
            <a:spLocks noGrp="1"/>
          </p:cNvSpPr>
          <p:nvPr>
            <p:ph type="title"/>
          </p:nvPr>
        </p:nvSpPr>
        <p:spPr/>
        <p:txBody>
          <a:bodyPr/>
          <a:lstStyle/>
          <a:p>
            <a:r>
              <a:rPr lang="fr-FR" dirty="0"/>
              <a:t>Les informations</a:t>
            </a:r>
          </a:p>
        </p:txBody>
      </p:sp>
      <p:graphicFrame>
        <p:nvGraphicFramePr>
          <p:cNvPr id="5" name="Espace réservé du contenu 2">
            <a:extLst>
              <a:ext uri="{FF2B5EF4-FFF2-40B4-BE49-F238E27FC236}">
                <a16:creationId xmlns:a16="http://schemas.microsoft.com/office/drawing/2014/main" id="{A9723156-EFC8-4691-6909-13760D9F86A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192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26BFE4-179C-C04E-AD70-1CE2DD809471}"/>
              </a:ext>
            </a:extLst>
          </p:cNvPr>
          <p:cNvSpPr>
            <a:spLocks noGrp="1"/>
          </p:cNvSpPr>
          <p:nvPr>
            <p:ph type="title"/>
          </p:nvPr>
        </p:nvSpPr>
        <p:spPr/>
        <p:txBody>
          <a:bodyPr/>
          <a:lstStyle/>
          <a:p>
            <a:r>
              <a:rPr lang="fr-FR" dirty="0"/>
              <a:t>Les blocs à valider</a:t>
            </a:r>
          </a:p>
        </p:txBody>
      </p:sp>
      <p:graphicFrame>
        <p:nvGraphicFramePr>
          <p:cNvPr id="5" name="Espace réservé du contenu 2">
            <a:extLst>
              <a:ext uri="{FF2B5EF4-FFF2-40B4-BE49-F238E27FC236}">
                <a16:creationId xmlns:a16="http://schemas.microsoft.com/office/drawing/2014/main" id="{783B3BD1-B654-0949-13B8-D637E390672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4480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C90C32A-FDCA-74C1-75AE-D09DE3412B08}"/>
              </a:ext>
            </a:extLst>
          </p:cNvPr>
          <p:cNvSpPr>
            <a:spLocks noGrp="1"/>
          </p:cNvSpPr>
          <p:nvPr>
            <p:ph type="title"/>
          </p:nvPr>
        </p:nvSpPr>
        <p:spPr>
          <a:xfrm>
            <a:off x="1156851" y="637762"/>
            <a:ext cx="9888496" cy="900131"/>
          </a:xfrm>
        </p:spPr>
        <p:txBody>
          <a:bodyPr anchor="t">
            <a:normAutofit/>
          </a:bodyPr>
          <a:lstStyle/>
          <a:p>
            <a:r>
              <a:rPr lang="fr-FR" sz="4000">
                <a:solidFill>
                  <a:schemeClr val="bg1"/>
                </a:solidFill>
              </a:rPr>
              <a:t>Diriger des projets numériques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space réservé du contenu 2">
            <a:extLst>
              <a:ext uri="{FF2B5EF4-FFF2-40B4-BE49-F238E27FC236}">
                <a16:creationId xmlns:a16="http://schemas.microsoft.com/office/drawing/2014/main" id="{D9ADB265-49D3-7D58-21F5-FEFBAAE54719}"/>
              </a:ext>
            </a:extLst>
          </p:cNvPr>
          <p:cNvSpPr>
            <a:spLocks noGrp="1"/>
          </p:cNvSpPr>
          <p:nvPr>
            <p:ph idx="1"/>
          </p:nvPr>
        </p:nvSpPr>
        <p:spPr>
          <a:xfrm>
            <a:off x="1155548" y="2217343"/>
            <a:ext cx="9880893" cy="3959619"/>
          </a:xfrm>
        </p:spPr>
        <p:txBody>
          <a:bodyPr>
            <a:normAutofit/>
          </a:bodyPr>
          <a:lstStyle/>
          <a:p>
            <a:pPr marL="0" indent="0">
              <a:buNone/>
            </a:pPr>
            <a:r>
              <a:rPr lang="fr-FR" sz="1700"/>
              <a:t>Compétences :</a:t>
            </a:r>
          </a:p>
          <a:p>
            <a:r>
              <a:rPr lang="fr-FR" sz="1700" b="1"/>
              <a:t>C1.1 :</a:t>
            </a:r>
            <a:r>
              <a:rPr lang="fr-FR" sz="1700"/>
              <a:t>Identifier les besoins exprimés par le donneur d’ordre ou la cible client visée par le projet, en termes humain, logistique et financier, afin d’élaborer le cahier des charges fonctionnel et technique (ou product backlog) le plus adapté.           </a:t>
            </a:r>
          </a:p>
          <a:p>
            <a:r>
              <a:rPr lang="fr-FR" sz="1700" b="1"/>
              <a:t>C1.2</a:t>
            </a:r>
            <a:r>
              <a:rPr lang="fr-FR" sz="1700"/>
              <a:t>Planifier les activités à réaliser et les livrables nécessaires à la mise en œuvre de la solution en identifiant les risques potentiels, leurs indicateurs de déclenchement et en proposant une politique de gestion de risques adéquate.     </a:t>
            </a:r>
          </a:p>
          <a:p>
            <a:r>
              <a:rPr lang="fr-FR" sz="1700" b="1"/>
              <a:t>C1.3</a:t>
            </a:r>
            <a:r>
              <a:rPr lang="fr-FR" sz="1700"/>
              <a:t>Elaborer une stratégie commerciale adaptée afin de déployer la solution et piloter le projet en concevant les indicateurs de performance (KPI) afin de mettre en place des actions correctives si un écart apparaît entre le prévisionnel et le réalisé.           </a:t>
            </a:r>
          </a:p>
          <a:p>
            <a:r>
              <a:rPr lang="fr-FR" sz="1700" b="1"/>
              <a:t>C1.4</a:t>
            </a:r>
            <a:r>
              <a:rPr lang="fr-FR" sz="1700"/>
              <a:t>Définir le business model en s’appuyant sur une étude d’opportunité permettant de rédiger un Business Plan argumenté pour le présenter au donneur d’ordre ou à des financiers.</a:t>
            </a:r>
          </a:p>
          <a:p>
            <a:pPr marL="0" indent="0">
              <a:buNone/>
            </a:pPr>
            <a:endParaRPr lang="fr-FR" sz="1700"/>
          </a:p>
        </p:txBody>
      </p:sp>
    </p:spTree>
    <p:extLst>
      <p:ext uri="{BB962C8B-B14F-4D97-AF65-F5344CB8AC3E}">
        <p14:creationId xmlns:p14="http://schemas.microsoft.com/office/powerpoint/2010/main" val="2128475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A55C0-7F15-A6BB-25D7-B691D538F14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1273859-B0FE-E1EE-253B-8AB6A77B3526}"/>
              </a:ext>
            </a:extLst>
          </p:cNvPr>
          <p:cNvSpPr>
            <a:spLocks noGrp="1"/>
          </p:cNvSpPr>
          <p:nvPr>
            <p:ph type="title"/>
          </p:nvPr>
        </p:nvSpPr>
        <p:spPr/>
        <p:txBody>
          <a:bodyPr/>
          <a:lstStyle/>
          <a:p>
            <a:r>
              <a:rPr lang="fr-FR" dirty="0"/>
              <a:t>Diriger des projets numériques</a:t>
            </a:r>
          </a:p>
        </p:txBody>
      </p:sp>
      <p:sp>
        <p:nvSpPr>
          <p:cNvPr id="3" name="Espace réservé du contenu 2">
            <a:extLst>
              <a:ext uri="{FF2B5EF4-FFF2-40B4-BE49-F238E27FC236}">
                <a16:creationId xmlns:a16="http://schemas.microsoft.com/office/drawing/2014/main" id="{8AB53C48-B054-60E1-48D8-69BDFD004466}"/>
              </a:ext>
            </a:extLst>
          </p:cNvPr>
          <p:cNvSpPr>
            <a:spLocks noGrp="1"/>
          </p:cNvSpPr>
          <p:nvPr>
            <p:ph idx="1"/>
          </p:nvPr>
        </p:nvSpPr>
        <p:spPr/>
        <p:txBody>
          <a:bodyPr>
            <a:normAutofit fontScale="77500" lnSpcReduction="20000"/>
          </a:bodyPr>
          <a:lstStyle/>
          <a:p>
            <a:pPr marL="0" indent="0">
              <a:buNone/>
            </a:pPr>
            <a:r>
              <a:rPr lang="fr-FR" sz="3100" b="1" dirty="0"/>
              <a:t>Modalités évaluations</a:t>
            </a:r>
          </a:p>
          <a:p>
            <a:pPr marL="0" indent="0">
              <a:buNone/>
            </a:pPr>
            <a:endParaRPr lang="fr-FR" dirty="0"/>
          </a:p>
          <a:p>
            <a:pPr marL="0" indent="0">
              <a:buNone/>
            </a:pPr>
            <a:r>
              <a:rPr lang="fr-FR" dirty="0"/>
              <a:t>Le candidat doit présenter </a:t>
            </a:r>
          </a:p>
          <a:p>
            <a:r>
              <a:rPr lang="fr-FR" dirty="0"/>
              <a:t>Le cahier des charges formalisé   fonctionnel et technique, compréhensible par le donneur d’ordre et les   parties prenantes.           </a:t>
            </a:r>
          </a:p>
          <a:p>
            <a:r>
              <a:rPr lang="fr-FR" dirty="0"/>
              <a:t>Le planning séquencé  </a:t>
            </a:r>
          </a:p>
          <a:p>
            <a:r>
              <a:rPr lang="fr-FR" dirty="0"/>
              <a:t>La politique de gestion des   risques</a:t>
            </a:r>
          </a:p>
          <a:p>
            <a:r>
              <a:rPr lang="fr-FR" dirty="0"/>
              <a:t>La stratégie commerciale et les process de mise en œuvre  </a:t>
            </a:r>
          </a:p>
          <a:p>
            <a:r>
              <a:rPr lang="fr-FR" dirty="0"/>
              <a:t>Les modalités et indicateurs de   pilotage et performance du projet. </a:t>
            </a:r>
          </a:p>
          <a:p>
            <a:r>
              <a:rPr lang="fr-FR" dirty="0"/>
              <a:t>Les solutions alternatives en   fonction des KPI       </a:t>
            </a:r>
          </a:p>
          <a:p>
            <a:r>
              <a:rPr lang="fr-FR" dirty="0"/>
              <a:t>Le Business Model </a:t>
            </a:r>
          </a:p>
          <a:p>
            <a:r>
              <a:rPr lang="fr-FR" dirty="0"/>
              <a:t>Le Business Plan et ses composantes    </a:t>
            </a:r>
          </a:p>
          <a:p>
            <a:pPr marL="0" indent="0">
              <a:buNone/>
            </a:pPr>
            <a:endParaRPr lang="fr-FR" dirty="0"/>
          </a:p>
        </p:txBody>
      </p:sp>
    </p:spTree>
    <p:extLst>
      <p:ext uri="{BB962C8B-B14F-4D97-AF65-F5344CB8AC3E}">
        <p14:creationId xmlns:p14="http://schemas.microsoft.com/office/powerpoint/2010/main" val="3224668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79BFA7-3669-226E-C73E-D4329EDDEC8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3BDFF6D-41FA-1A50-761F-97F77604386E}"/>
              </a:ext>
            </a:extLst>
          </p:cNvPr>
          <p:cNvSpPr>
            <a:spLocks noGrp="1"/>
          </p:cNvSpPr>
          <p:nvPr>
            <p:ph type="title"/>
          </p:nvPr>
        </p:nvSpPr>
        <p:spPr>
          <a:xfrm>
            <a:off x="1156851" y="637762"/>
            <a:ext cx="9888496" cy="900131"/>
          </a:xfrm>
        </p:spPr>
        <p:txBody>
          <a:bodyPr anchor="t">
            <a:normAutofit/>
          </a:bodyPr>
          <a:lstStyle/>
          <a:p>
            <a:r>
              <a:rPr lang="fr-FR" sz="2800">
                <a:solidFill>
                  <a:schemeClr val="bg1"/>
                </a:solidFill>
              </a:rPr>
              <a:t>Elaborer des concepts innovants au travers une démarche de design</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856E6358-0451-14D2-94D6-3AE4F1EABF15}"/>
              </a:ext>
            </a:extLst>
          </p:cNvPr>
          <p:cNvSpPr>
            <a:spLocks noGrp="1"/>
          </p:cNvSpPr>
          <p:nvPr>
            <p:ph idx="1"/>
          </p:nvPr>
        </p:nvSpPr>
        <p:spPr>
          <a:xfrm>
            <a:off x="1155548" y="2217343"/>
            <a:ext cx="9880893" cy="3959619"/>
          </a:xfrm>
        </p:spPr>
        <p:txBody>
          <a:bodyPr>
            <a:normAutofit/>
          </a:bodyPr>
          <a:lstStyle/>
          <a:p>
            <a:pPr marL="0" indent="0">
              <a:buNone/>
            </a:pPr>
            <a:r>
              <a:rPr lang="fr-FR" sz="2400"/>
              <a:t>Compétences :</a:t>
            </a:r>
          </a:p>
          <a:p>
            <a:r>
              <a:rPr lang="fr-FR" sz="2400" b="1"/>
              <a:t>C2.1</a:t>
            </a:r>
            <a:r>
              <a:rPr lang="fr-FR" sz="2400"/>
              <a:t>Conduire une recherche centrée sur l’utilisateur, ses comportements et ses problèmes et permettant de rédiger un « brief de recherche » reformulant l’ensemble des insatisfactions et problèmes à résoudre, qui serviront de base de travail.      </a:t>
            </a:r>
          </a:p>
          <a:p>
            <a:r>
              <a:rPr lang="fr-FR" sz="2400" b="1"/>
              <a:t>C2.2</a:t>
            </a:r>
            <a:r>
              <a:rPr lang="fr-FR" sz="2400"/>
              <a:t>Faire émerger des concepts viables d’une ou plusieurs solutions innovantes en démontrant la valeur d’usage          </a:t>
            </a:r>
          </a:p>
          <a:p>
            <a:r>
              <a:rPr lang="fr-FR" sz="2400" b="1"/>
              <a:t>C2.3</a:t>
            </a:r>
            <a:r>
              <a:rPr lang="fr-FR" sz="2400"/>
              <a:t>Piloter le prototypage des concepts envisagés et conduire les tests utilisateurs, afin d’obtenir des retours précis       </a:t>
            </a:r>
          </a:p>
          <a:p>
            <a:pPr marL="0" indent="0">
              <a:buNone/>
            </a:pPr>
            <a:endParaRPr lang="fr-FR" sz="2400"/>
          </a:p>
        </p:txBody>
      </p:sp>
    </p:spTree>
    <p:extLst>
      <p:ext uri="{BB962C8B-B14F-4D97-AF65-F5344CB8AC3E}">
        <p14:creationId xmlns:p14="http://schemas.microsoft.com/office/powerpoint/2010/main" val="715161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7A2DF-95C6-8D39-6B10-B7E3ECFBE8E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7F9A53E-B5BA-8D6B-6F69-3BDF831DA752}"/>
              </a:ext>
            </a:extLst>
          </p:cNvPr>
          <p:cNvSpPr>
            <a:spLocks noGrp="1"/>
          </p:cNvSpPr>
          <p:nvPr>
            <p:ph type="title"/>
          </p:nvPr>
        </p:nvSpPr>
        <p:spPr/>
        <p:txBody>
          <a:bodyPr/>
          <a:lstStyle/>
          <a:p>
            <a:r>
              <a:rPr lang="fr-FR" dirty="0"/>
              <a:t>Elaborer des concepts innovants au travers une démarche de design</a:t>
            </a:r>
          </a:p>
        </p:txBody>
      </p:sp>
      <p:sp>
        <p:nvSpPr>
          <p:cNvPr id="3" name="Espace réservé du contenu 2">
            <a:extLst>
              <a:ext uri="{FF2B5EF4-FFF2-40B4-BE49-F238E27FC236}">
                <a16:creationId xmlns:a16="http://schemas.microsoft.com/office/drawing/2014/main" id="{F0541164-E0B9-8501-BAAB-997336DFC0DC}"/>
              </a:ext>
            </a:extLst>
          </p:cNvPr>
          <p:cNvSpPr>
            <a:spLocks noGrp="1"/>
          </p:cNvSpPr>
          <p:nvPr>
            <p:ph idx="1"/>
          </p:nvPr>
        </p:nvSpPr>
        <p:spPr/>
        <p:txBody>
          <a:bodyPr>
            <a:normAutofit fontScale="62500" lnSpcReduction="20000"/>
          </a:bodyPr>
          <a:lstStyle/>
          <a:p>
            <a:pPr marL="0" indent="0">
              <a:buNone/>
            </a:pPr>
            <a:r>
              <a:rPr lang="fr-FR" sz="3200" b="1" dirty="0"/>
              <a:t>Modalités d’évaluation</a:t>
            </a:r>
          </a:p>
          <a:p>
            <a:pPr marL="0" indent="0">
              <a:buNone/>
            </a:pPr>
            <a:endParaRPr lang="fr-FR" dirty="0"/>
          </a:p>
          <a:p>
            <a:pPr marL="0" indent="0">
              <a:buNone/>
            </a:pPr>
            <a:r>
              <a:rPr lang="fr-FR" dirty="0"/>
              <a:t>Le candidat doit présenter (livrable et support en anglais, présentation orale en français) : </a:t>
            </a:r>
          </a:p>
          <a:p>
            <a:r>
              <a:rPr lang="fr-FR" dirty="0"/>
              <a:t>Un brief de  recherche qui doit reprendre :  </a:t>
            </a:r>
          </a:p>
          <a:p>
            <a:pPr lvl="1"/>
            <a:r>
              <a:rPr lang="fr-FR" dirty="0"/>
              <a:t>La reformulation du brief du donneur d’ordre  </a:t>
            </a:r>
          </a:p>
          <a:p>
            <a:pPr lvl="1"/>
            <a:r>
              <a:rPr lang="fr-FR" dirty="0"/>
              <a:t>Les éléments collectés en observation, interviews et recherches bibliographiques  </a:t>
            </a:r>
          </a:p>
          <a:p>
            <a:pPr lvl="1"/>
            <a:r>
              <a:rPr lang="fr-FR" dirty="0"/>
              <a:t>La formulation des insights utilisateurs </a:t>
            </a:r>
          </a:p>
          <a:p>
            <a:pPr lvl="1"/>
            <a:r>
              <a:rPr lang="fr-FR" dirty="0"/>
              <a:t>La priorisation des insights sur lesquels travailler  </a:t>
            </a:r>
          </a:p>
          <a:p>
            <a:r>
              <a:rPr lang="fr-FR" dirty="0"/>
              <a:t>La proposition de solutions incluant :</a:t>
            </a:r>
          </a:p>
          <a:p>
            <a:pPr lvl="1"/>
            <a:r>
              <a:rPr lang="fr-FR" dirty="0"/>
              <a:t>La présentation des solutions et des concepts élaborés </a:t>
            </a:r>
          </a:p>
          <a:p>
            <a:pPr lvl="1"/>
            <a:r>
              <a:rPr lang="fr-FR" dirty="0"/>
              <a:t>Les visuels et maquettes développés </a:t>
            </a:r>
          </a:p>
          <a:p>
            <a:pPr lvl="1"/>
            <a:r>
              <a:rPr lang="fr-FR" dirty="0"/>
              <a:t>Un scénario d’usage.</a:t>
            </a:r>
          </a:p>
          <a:p>
            <a:r>
              <a:rPr lang="fr-FR" dirty="0"/>
              <a:t>La production d’un prototype et des tests Utilisateurs.  (Livrable et support en anglais, présentation orale en français). Si le prototype ne peut être fabriqué pour l’évaluation en centre (projet industriels important par ex) , le candidat devra alors en  fournir la fiche technique complète  </a:t>
            </a:r>
          </a:p>
          <a:p>
            <a:r>
              <a:rPr lang="fr-FR" dirty="0"/>
              <a:t>  </a:t>
            </a:r>
          </a:p>
          <a:p>
            <a:pPr marL="0" indent="0">
              <a:buNone/>
            </a:pPr>
            <a:endParaRPr lang="fr-FR" dirty="0"/>
          </a:p>
        </p:txBody>
      </p:sp>
    </p:spTree>
    <p:extLst>
      <p:ext uri="{BB962C8B-B14F-4D97-AF65-F5344CB8AC3E}">
        <p14:creationId xmlns:p14="http://schemas.microsoft.com/office/powerpoint/2010/main" val="15156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2B8137-B971-4C92-74C5-E150B711A37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71FB93A-EA7A-2C4D-42A4-9ED86B6741A0}"/>
              </a:ext>
            </a:extLst>
          </p:cNvPr>
          <p:cNvSpPr>
            <a:spLocks noGrp="1"/>
          </p:cNvSpPr>
          <p:nvPr>
            <p:ph type="title"/>
          </p:nvPr>
        </p:nvSpPr>
        <p:spPr>
          <a:xfrm>
            <a:off x="1156851" y="637762"/>
            <a:ext cx="9888496" cy="900131"/>
          </a:xfrm>
        </p:spPr>
        <p:txBody>
          <a:bodyPr anchor="t">
            <a:normAutofit/>
          </a:bodyPr>
          <a:lstStyle/>
          <a:p>
            <a:r>
              <a:rPr lang="fr-FR" sz="2800">
                <a:solidFill>
                  <a:schemeClr val="bg1"/>
                </a:solidFill>
              </a:rPr>
              <a:t>Conseiller dans les choix et orientations technologiques de solutions numériques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30902489-C35E-7757-392E-31159E1D5FF9}"/>
              </a:ext>
            </a:extLst>
          </p:cNvPr>
          <p:cNvSpPr>
            <a:spLocks noGrp="1"/>
          </p:cNvSpPr>
          <p:nvPr>
            <p:ph idx="1"/>
          </p:nvPr>
        </p:nvSpPr>
        <p:spPr>
          <a:xfrm>
            <a:off x="1155548" y="2217343"/>
            <a:ext cx="9880893" cy="3959619"/>
          </a:xfrm>
        </p:spPr>
        <p:txBody>
          <a:bodyPr>
            <a:normAutofit/>
          </a:bodyPr>
          <a:lstStyle/>
          <a:p>
            <a:pPr marL="0" indent="0">
              <a:buNone/>
            </a:pPr>
            <a:r>
              <a:rPr lang="fr-FR" sz="2400"/>
              <a:t>Compétences :</a:t>
            </a:r>
          </a:p>
          <a:p>
            <a:r>
              <a:rPr lang="fr-FR" sz="2400" b="1"/>
              <a:t>C3.1</a:t>
            </a:r>
            <a:r>
              <a:rPr lang="fr-FR" sz="2400"/>
              <a:t>Réaliser un cahier des charges technique et fonctionnel permettant de transcrire les études réalisées en besoins technologiques. </a:t>
            </a:r>
          </a:p>
          <a:p>
            <a:r>
              <a:rPr lang="fr-FR" sz="2400" b="1"/>
              <a:t>C3.2</a:t>
            </a:r>
            <a:r>
              <a:rPr lang="fr-FR" sz="2400"/>
              <a:t>Proposer une solution technologique argumentée tenant compte des impacts sur l’infrastructure et l’organisation de l’entreprise et la faire valider par le donneur d’ordre.</a:t>
            </a:r>
          </a:p>
          <a:p>
            <a:r>
              <a:rPr lang="fr-FR" sz="2400" b="1"/>
              <a:t>C3.3</a:t>
            </a:r>
            <a:r>
              <a:rPr lang="fr-FR" sz="2400"/>
              <a:t>Définir les besoins en termes humains, organisationnels et financiers nécessaires à la mise en œuvre de la solution technologique recommandée.     </a:t>
            </a:r>
          </a:p>
          <a:p>
            <a:pPr marL="0" indent="0">
              <a:buNone/>
            </a:pPr>
            <a:endParaRPr lang="fr-FR" sz="2400"/>
          </a:p>
        </p:txBody>
      </p:sp>
    </p:spTree>
    <p:extLst>
      <p:ext uri="{BB962C8B-B14F-4D97-AF65-F5344CB8AC3E}">
        <p14:creationId xmlns:p14="http://schemas.microsoft.com/office/powerpoint/2010/main" val="3115475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0AB24-3771-BAF7-5E91-1E0506ADA42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FFCC55-7F45-7ACB-1A5E-E113649A5C59}"/>
              </a:ext>
            </a:extLst>
          </p:cNvPr>
          <p:cNvSpPr>
            <a:spLocks noGrp="1"/>
          </p:cNvSpPr>
          <p:nvPr>
            <p:ph type="title"/>
          </p:nvPr>
        </p:nvSpPr>
        <p:spPr/>
        <p:txBody>
          <a:bodyPr/>
          <a:lstStyle/>
          <a:p>
            <a:r>
              <a:rPr lang="fr-FR" dirty="0"/>
              <a:t>Conseiller dans les choix et orientations technologiques de solutions numériques</a:t>
            </a:r>
          </a:p>
        </p:txBody>
      </p:sp>
      <p:sp>
        <p:nvSpPr>
          <p:cNvPr id="3" name="Espace réservé du contenu 2">
            <a:extLst>
              <a:ext uri="{FF2B5EF4-FFF2-40B4-BE49-F238E27FC236}">
                <a16:creationId xmlns:a16="http://schemas.microsoft.com/office/drawing/2014/main" id="{F2616236-A4B4-D2C1-AD65-9EFC6F2A8CD9}"/>
              </a:ext>
            </a:extLst>
          </p:cNvPr>
          <p:cNvSpPr>
            <a:spLocks noGrp="1"/>
          </p:cNvSpPr>
          <p:nvPr>
            <p:ph idx="1"/>
          </p:nvPr>
        </p:nvSpPr>
        <p:spPr/>
        <p:txBody>
          <a:bodyPr>
            <a:normAutofit fontScale="70000" lnSpcReduction="20000"/>
          </a:bodyPr>
          <a:lstStyle/>
          <a:p>
            <a:pPr marL="0" indent="0">
              <a:buNone/>
            </a:pPr>
            <a:r>
              <a:rPr lang="fr-FR" sz="3400" b="1" dirty="0"/>
              <a:t>Modalités évaluations</a:t>
            </a:r>
          </a:p>
          <a:p>
            <a:pPr marL="0" indent="0">
              <a:buNone/>
            </a:pPr>
            <a:endParaRPr lang="fr-FR" dirty="0"/>
          </a:p>
          <a:p>
            <a:pPr marL="0" indent="0">
              <a:buNone/>
            </a:pPr>
            <a:r>
              <a:rPr lang="fr-FR" dirty="0"/>
              <a:t>Le candidat doit présenter (livrables et support en anglais, présentation orale en  français) :</a:t>
            </a:r>
          </a:p>
          <a:p>
            <a:r>
              <a:rPr lang="fr-FR" dirty="0"/>
              <a:t>Une reformulation du brief initial </a:t>
            </a:r>
          </a:p>
          <a:p>
            <a:r>
              <a:rPr lang="fr-FR" dirty="0"/>
              <a:t>Un benchmark technologique </a:t>
            </a:r>
          </a:p>
          <a:p>
            <a:r>
              <a:rPr lang="fr-FR" dirty="0"/>
              <a:t>Une étude du périmètre fonctionnel, organisationnel et financier </a:t>
            </a:r>
          </a:p>
          <a:p>
            <a:r>
              <a:rPr lang="fr-FR" dirty="0"/>
              <a:t>Un cahier des charges technique et fonctionnel      </a:t>
            </a:r>
          </a:p>
          <a:p>
            <a:r>
              <a:rPr lang="fr-FR" dirty="0"/>
              <a:t>Une recommandation de solution technologique </a:t>
            </a:r>
          </a:p>
          <a:p>
            <a:r>
              <a:rPr lang="fr-FR" dirty="0"/>
              <a:t>La mesure des impacts sur l’infrastructure et l’organisation </a:t>
            </a:r>
          </a:p>
          <a:p>
            <a:r>
              <a:rPr lang="fr-FR" dirty="0"/>
              <a:t>Un plan d’opérationnalisation et de mise en œuvre de la solution  comprenant </a:t>
            </a:r>
          </a:p>
          <a:p>
            <a:pPr lvl="1"/>
            <a:r>
              <a:rPr lang="fr-FR" dirty="0"/>
              <a:t>Un planning de mise en œuvre</a:t>
            </a:r>
          </a:p>
          <a:p>
            <a:pPr lvl="1"/>
            <a:r>
              <a:rPr lang="fr-FR" dirty="0"/>
              <a:t>Un budget pour chaque étape </a:t>
            </a:r>
          </a:p>
          <a:p>
            <a:pPr lvl="1"/>
            <a:r>
              <a:rPr lang="fr-FR" dirty="0"/>
              <a:t>Les besoins humains ou organisationnels </a:t>
            </a:r>
          </a:p>
          <a:p>
            <a:pPr marL="0" indent="0">
              <a:buNone/>
            </a:pPr>
            <a:endParaRPr lang="fr-FR" dirty="0"/>
          </a:p>
        </p:txBody>
      </p:sp>
    </p:spTree>
    <p:extLst>
      <p:ext uri="{BB962C8B-B14F-4D97-AF65-F5344CB8AC3E}">
        <p14:creationId xmlns:p14="http://schemas.microsoft.com/office/powerpoint/2010/main" val="3080742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30A01-E69D-04DC-0F48-475B6C4468FC}"/>
              </a:ext>
            </a:extLst>
          </p:cNvPr>
          <p:cNvSpPr>
            <a:spLocks noGrp="1"/>
          </p:cNvSpPr>
          <p:nvPr>
            <p:ph type="title"/>
          </p:nvPr>
        </p:nvSpPr>
        <p:spPr/>
        <p:txBody>
          <a:bodyPr/>
          <a:lstStyle/>
          <a:p>
            <a:r>
              <a:rPr lang="fr-FR" dirty="0"/>
              <a:t>Jalon 1 - Exploration &amp; choix du sujet</a:t>
            </a:r>
            <a:br>
              <a:rPr lang="fr-FR" dirty="0"/>
            </a:br>
            <a:endParaRPr lang="fr-FR" dirty="0"/>
          </a:p>
        </p:txBody>
      </p:sp>
      <p:sp>
        <p:nvSpPr>
          <p:cNvPr id="3" name="Espace réservé du contenu 2">
            <a:extLst>
              <a:ext uri="{FF2B5EF4-FFF2-40B4-BE49-F238E27FC236}">
                <a16:creationId xmlns:a16="http://schemas.microsoft.com/office/drawing/2014/main" id="{721613F9-312B-5EEF-D7DD-C1626144F56E}"/>
              </a:ext>
            </a:extLst>
          </p:cNvPr>
          <p:cNvSpPr>
            <a:spLocks noGrp="1"/>
          </p:cNvSpPr>
          <p:nvPr>
            <p:ph idx="1"/>
          </p:nvPr>
        </p:nvSpPr>
        <p:spPr/>
        <p:txBody>
          <a:bodyPr>
            <a:normAutofit fontScale="62500" lnSpcReduction="20000"/>
          </a:bodyPr>
          <a:lstStyle/>
          <a:p>
            <a:pPr marL="0" indent="0">
              <a:buNone/>
            </a:pPr>
            <a:r>
              <a:rPr lang="fr-FR" i="1" dirty="0"/>
              <a:t>A vous de trouver VOTRE projet data</a:t>
            </a:r>
            <a:endParaRPr lang="fr-FR" dirty="0"/>
          </a:p>
          <a:p>
            <a:pPr marL="0" indent="0">
              <a:buNone/>
            </a:pPr>
            <a:br>
              <a:rPr lang="fr-FR" b="1" dirty="0"/>
            </a:br>
            <a:r>
              <a:rPr lang="fr-FR" b="1" dirty="0"/>
              <a:t>Contraintes :</a:t>
            </a:r>
            <a:endParaRPr lang="fr-FR" dirty="0"/>
          </a:p>
          <a:p>
            <a:r>
              <a:rPr lang="fr-FR" dirty="0"/>
              <a:t>Doit répondre à un problème réel </a:t>
            </a:r>
          </a:p>
          <a:p>
            <a:r>
              <a:rPr lang="fr-FR" dirty="0"/>
              <a:t>Doit exploiter de la data (existante ou collectable) </a:t>
            </a:r>
          </a:p>
          <a:p>
            <a:r>
              <a:rPr lang="fr-FR" dirty="0"/>
              <a:t>Doit avoir un impact mesurable </a:t>
            </a:r>
          </a:p>
          <a:p>
            <a:r>
              <a:rPr lang="fr-FR" dirty="0"/>
              <a:t>Faisable sur environ 5 semaines</a:t>
            </a:r>
            <a:br>
              <a:rPr lang="fr-FR" dirty="0"/>
            </a:br>
            <a:endParaRPr lang="fr-FR" dirty="0"/>
          </a:p>
          <a:p>
            <a:pPr marL="0" indent="0">
              <a:buNone/>
            </a:pPr>
            <a:r>
              <a:rPr lang="fr-FR" b="1" dirty="0"/>
              <a:t>Livrables</a:t>
            </a:r>
            <a:endParaRPr lang="fr-FR" dirty="0"/>
          </a:p>
          <a:p>
            <a:r>
              <a:rPr lang="fr-FR" dirty="0"/>
              <a:t>2 à 3 idées de projet </a:t>
            </a:r>
          </a:p>
          <a:p>
            <a:r>
              <a:rPr lang="fr-FR" dirty="0"/>
              <a:t>Problème + cible + valeur </a:t>
            </a:r>
          </a:p>
          <a:p>
            <a:r>
              <a:rPr lang="fr-FR" dirty="0"/>
              <a:t>Sources de données potentielles </a:t>
            </a:r>
          </a:p>
          <a:p>
            <a:pPr marL="0" indent="0">
              <a:buNone/>
            </a:pPr>
            <a:endParaRPr lang="fr-FR" b="1" dirty="0"/>
          </a:p>
          <a:p>
            <a:pPr marL="0" indent="0">
              <a:buNone/>
            </a:pPr>
            <a:r>
              <a:rPr lang="fr-FR" b="1" dirty="0"/>
              <a:t>GO / NO GO pédagogique : Mercredi matin.</a:t>
            </a:r>
            <a:endParaRPr lang="fr-FR" dirty="0"/>
          </a:p>
          <a:p>
            <a:endParaRPr lang="fr-FR" dirty="0"/>
          </a:p>
        </p:txBody>
      </p:sp>
    </p:spTree>
    <p:extLst>
      <p:ext uri="{BB962C8B-B14F-4D97-AF65-F5344CB8AC3E}">
        <p14:creationId xmlns:p14="http://schemas.microsoft.com/office/powerpoint/2010/main" val="3917786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7B2BF-AB85-DF80-E1F6-D82F674F77C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0435C0E-8464-629A-0D48-AAAD300B8066}"/>
              </a:ext>
            </a:extLst>
          </p:cNvPr>
          <p:cNvSpPr>
            <a:spLocks noGrp="1"/>
          </p:cNvSpPr>
          <p:nvPr>
            <p:ph type="title"/>
          </p:nvPr>
        </p:nvSpPr>
        <p:spPr/>
        <p:txBody>
          <a:bodyPr>
            <a:normAutofit fontScale="90000"/>
          </a:bodyPr>
          <a:lstStyle/>
          <a:p>
            <a:r>
              <a:rPr lang="fr-FR" dirty="0"/>
              <a:t>Jalon 2 - Cadrage du besoin &amp; recherche utilisateur</a:t>
            </a:r>
            <a:br>
              <a:rPr lang="fr-FR" dirty="0"/>
            </a:br>
            <a:endParaRPr lang="fr-FR" dirty="0"/>
          </a:p>
        </p:txBody>
      </p:sp>
      <p:sp>
        <p:nvSpPr>
          <p:cNvPr id="3" name="Espace réservé du contenu 2">
            <a:extLst>
              <a:ext uri="{FF2B5EF4-FFF2-40B4-BE49-F238E27FC236}">
                <a16:creationId xmlns:a16="http://schemas.microsoft.com/office/drawing/2014/main" id="{5CE1BEBC-2107-BEF7-3398-4E169D6F38D8}"/>
              </a:ext>
            </a:extLst>
          </p:cNvPr>
          <p:cNvSpPr>
            <a:spLocks noGrp="1"/>
          </p:cNvSpPr>
          <p:nvPr>
            <p:ph idx="1"/>
          </p:nvPr>
        </p:nvSpPr>
        <p:spPr/>
        <p:txBody>
          <a:bodyPr>
            <a:normAutofit fontScale="92500" lnSpcReduction="20000"/>
          </a:bodyPr>
          <a:lstStyle/>
          <a:p>
            <a:pPr marL="0" indent="0">
              <a:buNone/>
            </a:pPr>
            <a:r>
              <a:rPr lang="fr-FR" sz="2400" b="1" dirty="0"/>
              <a:t>Bloc BCO2</a:t>
            </a:r>
          </a:p>
          <a:p>
            <a:pPr marL="0" indent="0">
              <a:buNone/>
            </a:pPr>
            <a:endParaRPr lang="fr-FR" sz="2400" b="1" dirty="0"/>
          </a:p>
          <a:p>
            <a:pPr marL="0" indent="0">
              <a:buNone/>
            </a:pPr>
            <a:r>
              <a:rPr lang="fr-FR" sz="2400" b="1" dirty="0"/>
              <a:t>TO DO </a:t>
            </a:r>
            <a:endParaRPr lang="fr-FR" sz="2400" dirty="0"/>
          </a:p>
          <a:p>
            <a:r>
              <a:rPr lang="fr-FR" sz="2400" dirty="0"/>
              <a:t>Interviews (même 3–5 suffisent</a:t>
            </a:r>
            <a:r>
              <a:rPr lang="fr-FR" sz="2500" dirty="0"/>
              <a:t>), les éléments collectés en observation et recherches bibliographiques  </a:t>
            </a:r>
            <a:endParaRPr lang="fr-FR" sz="2400" dirty="0"/>
          </a:p>
          <a:p>
            <a:r>
              <a:rPr lang="fr-FR" sz="2400" dirty="0"/>
              <a:t>Benchmark concurrentiel </a:t>
            </a:r>
          </a:p>
          <a:p>
            <a:r>
              <a:rPr lang="fr-FR" sz="2400" dirty="0"/>
              <a:t>Exploration des données disponibles </a:t>
            </a:r>
          </a:p>
          <a:p>
            <a:pPr marL="0" indent="0">
              <a:buNone/>
            </a:pPr>
            <a:endParaRPr lang="fr-FR" sz="2400" b="1" dirty="0"/>
          </a:p>
          <a:p>
            <a:pPr marL="0" indent="0">
              <a:buNone/>
            </a:pPr>
            <a:r>
              <a:rPr lang="fr-FR" sz="2400" b="1" dirty="0"/>
              <a:t>Livrables</a:t>
            </a:r>
            <a:endParaRPr lang="fr-FR" sz="2400" dirty="0"/>
          </a:p>
          <a:p>
            <a:r>
              <a:rPr lang="fr-FR" sz="2400" dirty="0"/>
              <a:t>Brief de recherche </a:t>
            </a:r>
          </a:p>
          <a:p>
            <a:r>
              <a:rPr lang="fr-FR" sz="2400" dirty="0"/>
              <a:t>Insights utilisateurs </a:t>
            </a:r>
          </a:p>
          <a:p>
            <a:r>
              <a:rPr lang="fr-FR" sz="2400" dirty="0"/>
              <a:t>Problèmes priorisés </a:t>
            </a:r>
          </a:p>
        </p:txBody>
      </p:sp>
    </p:spTree>
    <p:extLst>
      <p:ext uri="{BB962C8B-B14F-4D97-AF65-F5344CB8AC3E}">
        <p14:creationId xmlns:p14="http://schemas.microsoft.com/office/powerpoint/2010/main" val="2113849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0FD69-491E-D6EF-4DA6-6BAC38FC49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C4791A7-7D76-49E1-C685-26A68A428401}"/>
              </a:ext>
            </a:extLst>
          </p:cNvPr>
          <p:cNvSpPr>
            <a:spLocks noGrp="1"/>
          </p:cNvSpPr>
          <p:nvPr>
            <p:ph type="title"/>
          </p:nvPr>
        </p:nvSpPr>
        <p:spPr/>
        <p:txBody>
          <a:bodyPr>
            <a:normAutofit/>
          </a:bodyPr>
          <a:lstStyle/>
          <a:p>
            <a:r>
              <a:rPr lang="fr-FR" dirty="0"/>
              <a:t>Jalon 3 – Cadrage fonctionnel et KPI</a:t>
            </a:r>
          </a:p>
        </p:txBody>
      </p:sp>
      <p:sp>
        <p:nvSpPr>
          <p:cNvPr id="3" name="Espace réservé du contenu 2">
            <a:extLst>
              <a:ext uri="{FF2B5EF4-FFF2-40B4-BE49-F238E27FC236}">
                <a16:creationId xmlns:a16="http://schemas.microsoft.com/office/drawing/2014/main" id="{AAB3236E-23C7-4E99-8098-421A3C01C29B}"/>
              </a:ext>
            </a:extLst>
          </p:cNvPr>
          <p:cNvSpPr>
            <a:spLocks noGrp="1"/>
          </p:cNvSpPr>
          <p:nvPr>
            <p:ph idx="1"/>
          </p:nvPr>
        </p:nvSpPr>
        <p:spPr/>
        <p:txBody>
          <a:bodyPr>
            <a:normAutofit lnSpcReduction="10000"/>
          </a:bodyPr>
          <a:lstStyle/>
          <a:p>
            <a:pPr marL="0" indent="0">
              <a:buNone/>
            </a:pPr>
            <a:r>
              <a:rPr lang="fr-FR" sz="2000" b="1" dirty="0"/>
              <a:t>TO DO :</a:t>
            </a:r>
            <a:endParaRPr lang="fr-FR" sz="2000" dirty="0"/>
          </a:p>
          <a:p>
            <a:r>
              <a:rPr lang="fr-FR" sz="2000" dirty="0"/>
              <a:t>Définir les fonctionnalités </a:t>
            </a:r>
          </a:p>
          <a:p>
            <a:r>
              <a:rPr lang="fr-FR" sz="2000" dirty="0"/>
              <a:t>Définir les KPI de succès </a:t>
            </a:r>
          </a:p>
          <a:p>
            <a:r>
              <a:rPr lang="fr-FR" sz="2000" dirty="0"/>
              <a:t>Formaliser le besoin </a:t>
            </a:r>
          </a:p>
          <a:p>
            <a:r>
              <a:rPr lang="fr-FR" sz="2000" dirty="0"/>
              <a:t>Stratégie de déploiement</a:t>
            </a:r>
          </a:p>
          <a:p>
            <a:pPr marL="0" indent="0">
              <a:buNone/>
            </a:pPr>
            <a:endParaRPr lang="fr-FR" sz="2000" b="1" dirty="0"/>
          </a:p>
          <a:p>
            <a:pPr marL="0" indent="0">
              <a:buNone/>
            </a:pPr>
            <a:r>
              <a:rPr lang="fr-FR" sz="2000" b="1" dirty="0"/>
              <a:t>Livrables</a:t>
            </a:r>
            <a:endParaRPr lang="fr-FR" sz="2000" dirty="0"/>
          </a:p>
          <a:p>
            <a:r>
              <a:rPr lang="fr-FR" sz="2000" dirty="0"/>
              <a:t>Cahier des charges fonctionnel et technique</a:t>
            </a:r>
          </a:p>
          <a:p>
            <a:r>
              <a:rPr lang="fr-FR" sz="2000" dirty="0"/>
              <a:t>KPI </a:t>
            </a:r>
          </a:p>
          <a:p>
            <a:r>
              <a:rPr lang="fr-FR" sz="2000" dirty="0" err="1"/>
              <a:t>Backlog</a:t>
            </a:r>
            <a:r>
              <a:rPr lang="fr-FR" sz="2000" dirty="0"/>
              <a:t> / user stories</a:t>
            </a:r>
          </a:p>
          <a:p>
            <a:r>
              <a:rPr lang="fr-FR" sz="2000" dirty="0"/>
              <a:t>Business Model / Business plan</a:t>
            </a:r>
          </a:p>
          <a:p>
            <a:endParaRPr lang="fr-FR" sz="2000" dirty="0"/>
          </a:p>
          <a:p>
            <a:endParaRPr lang="fr-FR" sz="2000" dirty="0"/>
          </a:p>
          <a:p>
            <a:pPr marL="0" indent="0">
              <a:buNone/>
            </a:pPr>
            <a:endParaRPr lang="fr-FR" sz="2000" dirty="0"/>
          </a:p>
        </p:txBody>
      </p:sp>
    </p:spTree>
    <p:extLst>
      <p:ext uri="{BB962C8B-B14F-4D97-AF65-F5344CB8AC3E}">
        <p14:creationId xmlns:p14="http://schemas.microsoft.com/office/powerpoint/2010/main" val="4195181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D8CB9-55C3-BEEC-01A5-59BE8FF8C04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B115DAC-5A1B-D1D8-0038-5CF031E4DE84}"/>
              </a:ext>
            </a:extLst>
          </p:cNvPr>
          <p:cNvSpPr>
            <a:spLocks noGrp="1"/>
          </p:cNvSpPr>
          <p:nvPr>
            <p:ph type="title"/>
          </p:nvPr>
        </p:nvSpPr>
        <p:spPr/>
        <p:txBody>
          <a:bodyPr>
            <a:normAutofit/>
          </a:bodyPr>
          <a:lstStyle/>
          <a:p>
            <a:r>
              <a:rPr lang="fr-FR" dirty="0"/>
              <a:t>Jalon 4 - Définition de la solution data</a:t>
            </a:r>
            <a:br>
              <a:rPr lang="fr-FR" dirty="0"/>
            </a:br>
            <a:endParaRPr lang="fr-FR" dirty="0"/>
          </a:p>
        </p:txBody>
      </p:sp>
      <p:sp>
        <p:nvSpPr>
          <p:cNvPr id="3" name="Espace réservé du contenu 2">
            <a:extLst>
              <a:ext uri="{FF2B5EF4-FFF2-40B4-BE49-F238E27FC236}">
                <a16:creationId xmlns:a16="http://schemas.microsoft.com/office/drawing/2014/main" id="{4EE4F013-6F92-861F-25CB-73B7DE7AAC2B}"/>
              </a:ext>
            </a:extLst>
          </p:cNvPr>
          <p:cNvSpPr>
            <a:spLocks noGrp="1"/>
          </p:cNvSpPr>
          <p:nvPr>
            <p:ph idx="1"/>
          </p:nvPr>
        </p:nvSpPr>
        <p:spPr/>
        <p:txBody>
          <a:bodyPr>
            <a:normAutofit fontScale="62500" lnSpcReduction="20000"/>
          </a:bodyPr>
          <a:lstStyle/>
          <a:p>
            <a:pPr marL="0" indent="0">
              <a:buNone/>
            </a:pPr>
            <a:r>
              <a:rPr lang="fr-FR" dirty="0"/>
              <a:t>TO DO : </a:t>
            </a:r>
          </a:p>
          <a:p>
            <a:r>
              <a:rPr lang="fr-FR" dirty="0"/>
              <a:t>Définir : </a:t>
            </a:r>
          </a:p>
          <a:p>
            <a:pPr lvl="1"/>
            <a:r>
              <a:rPr lang="fr-FR" dirty="0"/>
              <a:t>type de solution (</a:t>
            </a:r>
            <a:r>
              <a:rPr lang="fr-FR" dirty="0" err="1"/>
              <a:t>dashboard</a:t>
            </a:r>
            <a:r>
              <a:rPr lang="fr-FR" dirty="0"/>
              <a:t>, ML, app…)</a:t>
            </a:r>
          </a:p>
          <a:p>
            <a:pPr lvl="1"/>
            <a:r>
              <a:rPr lang="fr-FR" dirty="0"/>
              <a:t>Maquette (avec Miro par ex) </a:t>
            </a:r>
          </a:p>
          <a:p>
            <a:pPr lvl="1"/>
            <a:r>
              <a:rPr lang="fr-FR" dirty="0"/>
              <a:t>use case data </a:t>
            </a:r>
          </a:p>
          <a:p>
            <a:r>
              <a:rPr lang="fr-FR" dirty="0"/>
              <a:t>Définir la valeur ajoutée </a:t>
            </a:r>
          </a:p>
          <a:p>
            <a:pPr marL="0" indent="0">
              <a:buNone/>
            </a:pPr>
            <a:endParaRPr lang="fr-FR" b="1" dirty="0"/>
          </a:p>
          <a:p>
            <a:pPr marL="0" indent="0">
              <a:buNone/>
            </a:pPr>
            <a:r>
              <a:rPr lang="fr-FR" b="1" dirty="0"/>
              <a:t>Livrables</a:t>
            </a:r>
            <a:endParaRPr lang="fr-FR" dirty="0"/>
          </a:p>
          <a:p>
            <a:r>
              <a:rPr lang="fr-FR" dirty="0"/>
              <a:t>Concept de solution </a:t>
            </a:r>
          </a:p>
          <a:p>
            <a:r>
              <a:rPr lang="fr-FR" dirty="0"/>
              <a:t>Scénario d’usage </a:t>
            </a:r>
          </a:p>
          <a:p>
            <a:r>
              <a:rPr lang="fr-FR" dirty="0"/>
              <a:t>Proposition de valeur</a:t>
            </a:r>
          </a:p>
          <a:p>
            <a:r>
              <a:rPr lang="fr-FR" dirty="0"/>
              <a:t>Un plan d’opérationnalisation et de mise en œuvre de la solution  comprenant </a:t>
            </a:r>
          </a:p>
          <a:p>
            <a:pPr lvl="1"/>
            <a:r>
              <a:rPr lang="fr-FR" dirty="0"/>
              <a:t>Un planning de mise en œuvre</a:t>
            </a:r>
          </a:p>
          <a:p>
            <a:pPr lvl="1"/>
            <a:r>
              <a:rPr lang="fr-FR" dirty="0"/>
              <a:t>Un budget pour chaque étape </a:t>
            </a:r>
          </a:p>
          <a:p>
            <a:pPr lvl="1"/>
            <a:r>
              <a:rPr lang="fr-FR" dirty="0"/>
              <a:t>Les besoins humains ou organisationnels </a:t>
            </a:r>
          </a:p>
          <a:p>
            <a:endParaRPr lang="fr-FR" dirty="0"/>
          </a:p>
        </p:txBody>
      </p:sp>
    </p:spTree>
    <p:extLst>
      <p:ext uri="{BB962C8B-B14F-4D97-AF65-F5344CB8AC3E}">
        <p14:creationId xmlns:p14="http://schemas.microsoft.com/office/powerpoint/2010/main" val="352918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EB458-1E1D-6B2A-C923-11B156AAA85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B3794DA-0EA9-CFED-DB60-36EA7D6529B2}"/>
              </a:ext>
            </a:extLst>
          </p:cNvPr>
          <p:cNvSpPr>
            <a:spLocks noGrp="1"/>
          </p:cNvSpPr>
          <p:nvPr>
            <p:ph type="title"/>
          </p:nvPr>
        </p:nvSpPr>
        <p:spPr/>
        <p:txBody>
          <a:bodyPr>
            <a:normAutofit/>
          </a:bodyPr>
          <a:lstStyle/>
          <a:p>
            <a:r>
              <a:rPr lang="fr-FR" dirty="0"/>
              <a:t>Jalon 5 – Choix technologiques</a:t>
            </a:r>
          </a:p>
        </p:txBody>
      </p:sp>
      <p:sp>
        <p:nvSpPr>
          <p:cNvPr id="3" name="Espace réservé du contenu 2">
            <a:extLst>
              <a:ext uri="{FF2B5EF4-FFF2-40B4-BE49-F238E27FC236}">
                <a16:creationId xmlns:a16="http://schemas.microsoft.com/office/drawing/2014/main" id="{84212902-8E67-62C4-E091-B3C4205947FE}"/>
              </a:ext>
            </a:extLst>
          </p:cNvPr>
          <p:cNvSpPr>
            <a:spLocks noGrp="1"/>
          </p:cNvSpPr>
          <p:nvPr>
            <p:ph idx="1"/>
          </p:nvPr>
        </p:nvSpPr>
        <p:spPr/>
        <p:txBody>
          <a:bodyPr>
            <a:normAutofit/>
          </a:bodyPr>
          <a:lstStyle/>
          <a:p>
            <a:pPr marL="0" indent="0">
              <a:buNone/>
            </a:pPr>
            <a:r>
              <a:rPr lang="fr-FR" sz="2000" b="1" dirty="0"/>
              <a:t>TO DO : </a:t>
            </a:r>
          </a:p>
          <a:p>
            <a:r>
              <a:rPr lang="fr-FR" sz="2000" dirty="0"/>
              <a:t>Benchmark outils (Python, Power BI, cloud…) </a:t>
            </a:r>
          </a:p>
          <a:p>
            <a:r>
              <a:rPr lang="fr-FR" sz="2000" dirty="0"/>
              <a:t>Choix architecture </a:t>
            </a:r>
          </a:p>
          <a:p>
            <a:r>
              <a:rPr lang="fr-FR" sz="2000" dirty="0"/>
              <a:t>Analyse impacts </a:t>
            </a:r>
          </a:p>
          <a:p>
            <a:endParaRPr lang="fr-FR" sz="2000" dirty="0"/>
          </a:p>
          <a:p>
            <a:pPr marL="0" indent="0">
              <a:buNone/>
            </a:pPr>
            <a:r>
              <a:rPr lang="fr-FR" sz="2000" b="1" dirty="0"/>
              <a:t>Livrables</a:t>
            </a:r>
            <a:endParaRPr lang="fr-FR" sz="2000" dirty="0"/>
          </a:p>
          <a:p>
            <a:r>
              <a:rPr lang="fr-FR" sz="2000" dirty="0"/>
              <a:t>Benchmark technologique</a:t>
            </a:r>
          </a:p>
          <a:p>
            <a:r>
              <a:rPr lang="fr-FR" sz="2000" dirty="0"/>
              <a:t>Recommandation argumentée </a:t>
            </a:r>
          </a:p>
          <a:p>
            <a:r>
              <a:rPr lang="fr-FR" sz="2000" dirty="0"/>
              <a:t>Architecture</a:t>
            </a:r>
          </a:p>
        </p:txBody>
      </p:sp>
    </p:spTree>
    <p:extLst>
      <p:ext uri="{BB962C8B-B14F-4D97-AF65-F5344CB8AC3E}">
        <p14:creationId xmlns:p14="http://schemas.microsoft.com/office/powerpoint/2010/main" val="2821652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7051E-DEF7-878F-1D29-1F5C3FCF898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0DC99E0-D496-CCBC-C656-9E8E28049F49}"/>
              </a:ext>
            </a:extLst>
          </p:cNvPr>
          <p:cNvSpPr>
            <a:spLocks noGrp="1"/>
          </p:cNvSpPr>
          <p:nvPr>
            <p:ph type="title"/>
          </p:nvPr>
        </p:nvSpPr>
        <p:spPr/>
        <p:txBody>
          <a:bodyPr>
            <a:normAutofit/>
          </a:bodyPr>
          <a:lstStyle/>
          <a:p>
            <a:r>
              <a:rPr lang="fr-FR" dirty="0"/>
              <a:t>Jalon 6 – Planification &amp; risques</a:t>
            </a:r>
          </a:p>
        </p:txBody>
      </p:sp>
      <p:sp>
        <p:nvSpPr>
          <p:cNvPr id="3" name="Espace réservé du contenu 2">
            <a:extLst>
              <a:ext uri="{FF2B5EF4-FFF2-40B4-BE49-F238E27FC236}">
                <a16:creationId xmlns:a16="http://schemas.microsoft.com/office/drawing/2014/main" id="{B3A673A3-221F-DCE7-E3F3-06C5BD745F4C}"/>
              </a:ext>
            </a:extLst>
          </p:cNvPr>
          <p:cNvSpPr>
            <a:spLocks noGrp="1"/>
          </p:cNvSpPr>
          <p:nvPr>
            <p:ph idx="1"/>
          </p:nvPr>
        </p:nvSpPr>
        <p:spPr/>
        <p:txBody>
          <a:bodyPr>
            <a:normAutofit/>
          </a:bodyPr>
          <a:lstStyle/>
          <a:p>
            <a:pPr marL="0" indent="0">
              <a:buNone/>
            </a:pPr>
            <a:r>
              <a:rPr lang="fr-FR" sz="2000" b="1" dirty="0"/>
              <a:t>TO DO : </a:t>
            </a:r>
            <a:endParaRPr lang="fr-FR" sz="2000" dirty="0"/>
          </a:p>
          <a:p>
            <a:r>
              <a:rPr lang="fr-FR" sz="2000" dirty="0"/>
              <a:t>Planning </a:t>
            </a:r>
          </a:p>
          <a:p>
            <a:r>
              <a:rPr lang="fr-FR" sz="2000" dirty="0"/>
              <a:t>Répartition des rôles </a:t>
            </a:r>
          </a:p>
          <a:p>
            <a:r>
              <a:rPr lang="fr-FR" sz="2000" dirty="0"/>
              <a:t>Identification des risques</a:t>
            </a:r>
          </a:p>
          <a:p>
            <a:r>
              <a:rPr lang="fr-FR" sz="2000" dirty="0"/>
              <a:t>Mesures des impacts sur l’organisation et l’infrastructure </a:t>
            </a:r>
          </a:p>
          <a:p>
            <a:endParaRPr lang="fr-FR" sz="2000" dirty="0"/>
          </a:p>
          <a:p>
            <a:pPr marL="0" indent="0">
              <a:buNone/>
            </a:pPr>
            <a:r>
              <a:rPr lang="fr-FR" sz="2000" b="1" dirty="0"/>
              <a:t>Livrables</a:t>
            </a:r>
            <a:endParaRPr lang="fr-FR" sz="2000" dirty="0"/>
          </a:p>
          <a:p>
            <a:r>
              <a:rPr lang="fr-FR" sz="2000" dirty="0"/>
              <a:t>Planning </a:t>
            </a:r>
          </a:p>
          <a:p>
            <a:r>
              <a:rPr lang="fr-FR" sz="2000" dirty="0"/>
              <a:t>Gestion des risques </a:t>
            </a:r>
          </a:p>
          <a:p>
            <a:r>
              <a:rPr lang="fr-FR" sz="2000" dirty="0"/>
              <a:t>Budget simplifié</a:t>
            </a:r>
          </a:p>
        </p:txBody>
      </p:sp>
    </p:spTree>
    <p:extLst>
      <p:ext uri="{BB962C8B-B14F-4D97-AF65-F5344CB8AC3E}">
        <p14:creationId xmlns:p14="http://schemas.microsoft.com/office/powerpoint/2010/main" val="1370091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5896B-F9A9-2E83-89CC-C7F99F73F1F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686BC04-834E-1349-2FD4-4F02D9EA486B}"/>
              </a:ext>
            </a:extLst>
          </p:cNvPr>
          <p:cNvSpPr>
            <a:spLocks noGrp="1"/>
          </p:cNvSpPr>
          <p:nvPr>
            <p:ph type="title"/>
          </p:nvPr>
        </p:nvSpPr>
        <p:spPr/>
        <p:txBody>
          <a:bodyPr>
            <a:normAutofit/>
          </a:bodyPr>
          <a:lstStyle/>
          <a:p>
            <a:r>
              <a:rPr lang="fr-FR" dirty="0"/>
              <a:t>Jalon 7 – Prototypes et tests</a:t>
            </a:r>
          </a:p>
        </p:txBody>
      </p:sp>
      <p:sp>
        <p:nvSpPr>
          <p:cNvPr id="3" name="Espace réservé du contenu 2">
            <a:extLst>
              <a:ext uri="{FF2B5EF4-FFF2-40B4-BE49-F238E27FC236}">
                <a16:creationId xmlns:a16="http://schemas.microsoft.com/office/drawing/2014/main" id="{696A46CC-1CB5-2B26-9E91-78626E06FA5A}"/>
              </a:ext>
            </a:extLst>
          </p:cNvPr>
          <p:cNvSpPr>
            <a:spLocks noGrp="1"/>
          </p:cNvSpPr>
          <p:nvPr>
            <p:ph idx="1"/>
          </p:nvPr>
        </p:nvSpPr>
        <p:spPr/>
        <p:txBody>
          <a:bodyPr>
            <a:normAutofit/>
          </a:bodyPr>
          <a:lstStyle/>
          <a:p>
            <a:pPr marL="0" indent="0">
              <a:buNone/>
            </a:pPr>
            <a:r>
              <a:rPr lang="fr-FR" sz="2000" b="1" dirty="0"/>
              <a:t>TO DO :</a:t>
            </a:r>
            <a:endParaRPr lang="fr-FR" sz="2000" dirty="0"/>
          </a:p>
          <a:p>
            <a:r>
              <a:rPr lang="fr-FR" sz="2000" dirty="0"/>
              <a:t>Prototype (modèle, </a:t>
            </a:r>
            <a:r>
              <a:rPr lang="fr-FR" sz="2000" dirty="0" err="1"/>
              <a:t>dashboard</a:t>
            </a:r>
            <a:r>
              <a:rPr lang="fr-FR" sz="2000" dirty="0"/>
              <a:t>…) </a:t>
            </a:r>
          </a:p>
          <a:p>
            <a:r>
              <a:rPr lang="fr-FR" sz="2000" dirty="0"/>
              <a:t>Tests utilisateurs (même simples) </a:t>
            </a:r>
          </a:p>
          <a:p>
            <a:r>
              <a:rPr lang="fr-FR" sz="2000" dirty="0"/>
              <a:t>Itérations </a:t>
            </a:r>
          </a:p>
          <a:p>
            <a:pPr marL="0" indent="0">
              <a:buNone/>
            </a:pPr>
            <a:endParaRPr lang="fr-FR" sz="2000" b="1" dirty="0"/>
          </a:p>
          <a:p>
            <a:pPr marL="0" indent="0">
              <a:buNone/>
            </a:pPr>
            <a:r>
              <a:rPr lang="fr-FR" sz="2000" b="1" dirty="0"/>
              <a:t>Livrables</a:t>
            </a:r>
            <a:endParaRPr lang="fr-FR" sz="2000" dirty="0"/>
          </a:p>
          <a:p>
            <a:r>
              <a:rPr lang="fr-FR" sz="2000" dirty="0"/>
              <a:t>Prototype </a:t>
            </a:r>
          </a:p>
          <a:p>
            <a:r>
              <a:rPr lang="fr-FR" sz="2000" dirty="0"/>
              <a:t>Résultats des tests </a:t>
            </a:r>
          </a:p>
          <a:p>
            <a:r>
              <a:rPr lang="fr-FR" sz="2000" dirty="0"/>
              <a:t>Améliorations</a:t>
            </a:r>
          </a:p>
        </p:txBody>
      </p:sp>
    </p:spTree>
    <p:extLst>
      <p:ext uri="{BB962C8B-B14F-4D97-AF65-F5344CB8AC3E}">
        <p14:creationId xmlns:p14="http://schemas.microsoft.com/office/powerpoint/2010/main" val="2134960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FD708-8DF4-E125-CE1D-CA455EC3A69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48839A0-83CF-C927-2C27-EE011A1F5DEE}"/>
              </a:ext>
            </a:extLst>
          </p:cNvPr>
          <p:cNvSpPr>
            <a:spLocks noGrp="1"/>
          </p:cNvSpPr>
          <p:nvPr>
            <p:ph type="title"/>
          </p:nvPr>
        </p:nvSpPr>
        <p:spPr/>
        <p:txBody>
          <a:bodyPr>
            <a:normAutofit/>
          </a:bodyPr>
          <a:lstStyle/>
          <a:p>
            <a:r>
              <a:rPr lang="fr-FR" dirty="0"/>
              <a:t>Jalon 8 - Finalisation</a:t>
            </a:r>
          </a:p>
        </p:txBody>
      </p:sp>
      <p:sp>
        <p:nvSpPr>
          <p:cNvPr id="3" name="Espace réservé du contenu 2">
            <a:extLst>
              <a:ext uri="{FF2B5EF4-FFF2-40B4-BE49-F238E27FC236}">
                <a16:creationId xmlns:a16="http://schemas.microsoft.com/office/drawing/2014/main" id="{19BABE7E-64DE-66BD-E4E2-98D97C4A93F0}"/>
              </a:ext>
            </a:extLst>
          </p:cNvPr>
          <p:cNvSpPr>
            <a:spLocks noGrp="1"/>
          </p:cNvSpPr>
          <p:nvPr>
            <p:ph idx="1"/>
          </p:nvPr>
        </p:nvSpPr>
        <p:spPr/>
        <p:txBody>
          <a:bodyPr>
            <a:normAutofit/>
          </a:bodyPr>
          <a:lstStyle/>
          <a:p>
            <a:pPr marL="0" indent="0">
              <a:buNone/>
            </a:pPr>
            <a:r>
              <a:rPr lang="fr-FR" sz="2000" b="1" dirty="0"/>
              <a:t>TO DO : </a:t>
            </a:r>
            <a:endParaRPr lang="fr-FR" sz="2000" dirty="0"/>
          </a:p>
          <a:p>
            <a:r>
              <a:rPr lang="fr-FR" sz="2000" dirty="0"/>
              <a:t>Finalisation des livrables</a:t>
            </a:r>
          </a:p>
          <a:p>
            <a:r>
              <a:rPr lang="fr-FR" sz="2000" dirty="0"/>
              <a:t>Finalisation de la solution afin qu’elle soit fonctionnelle et réponde aux besoins</a:t>
            </a:r>
          </a:p>
          <a:p>
            <a:pPr marL="0" indent="0">
              <a:buNone/>
            </a:pPr>
            <a:endParaRPr lang="fr-FR" sz="2000" b="1" dirty="0"/>
          </a:p>
          <a:p>
            <a:pPr marL="0" indent="0">
              <a:buNone/>
            </a:pPr>
            <a:r>
              <a:rPr lang="fr-FR" sz="2000" b="1" dirty="0"/>
              <a:t>Livrables</a:t>
            </a:r>
            <a:endParaRPr lang="fr-FR" sz="2000" dirty="0"/>
          </a:p>
          <a:p>
            <a:r>
              <a:rPr lang="fr-FR" sz="2000" dirty="0"/>
              <a:t>L’ensemble des livrables « techniques » en anglais</a:t>
            </a:r>
          </a:p>
          <a:p>
            <a:r>
              <a:rPr lang="fr-FR" sz="2000" dirty="0"/>
              <a:t>Support en français</a:t>
            </a:r>
          </a:p>
          <a:p>
            <a:r>
              <a:rPr lang="fr-FR" sz="2000" dirty="0"/>
              <a:t>Pitch</a:t>
            </a:r>
          </a:p>
        </p:txBody>
      </p:sp>
    </p:spTree>
    <p:extLst>
      <p:ext uri="{BB962C8B-B14F-4D97-AF65-F5344CB8AC3E}">
        <p14:creationId xmlns:p14="http://schemas.microsoft.com/office/powerpoint/2010/main" val="3795108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474FA-FEBB-8407-D35C-E70C6EFCBB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8CEA813-9025-BC72-0715-AA8FC5B16F85}"/>
              </a:ext>
            </a:extLst>
          </p:cNvPr>
          <p:cNvSpPr>
            <a:spLocks noGrp="1"/>
          </p:cNvSpPr>
          <p:nvPr>
            <p:ph type="title"/>
          </p:nvPr>
        </p:nvSpPr>
        <p:spPr/>
        <p:txBody>
          <a:bodyPr/>
          <a:lstStyle/>
          <a:p>
            <a:r>
              <a:rPr lang="fr-FR" dirty="0"/>
              <a:t>Outils</a:t>
            </a:r>
          </a:p>
        </p:txBody>
      </p:sp>
      <p:graphicFrame>
        <p:nvGraphicFramePr>
          <p:cNvPr id="5" name="Espace réservé du contenu 2">
            <a:extLst>
              <a:ext uri="{FF2B5EF4-FFF2-40B4-BE49-F238E27FC236}">
                <a16:creationId xmlns:a16="http://schemas.microsoft.com/office/drawing/2014/main" id="{47AE6F76-365E-E44F-D92F-601BEE85336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3428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67F2541-FE7A-9D0F-331B-DD26BAB2B537}"/>
              </a:ext>
            </a:extLst>
          </p:cNvPr>
          <p:cNvSpPr>
            <a:spLocks noGrp="1"/>
          </p:cNvSpPr>
          <p:nvPr>
            <p:ph type="title"/>
          </p:nvPr>
        </p:nvSpPr>
        <p:spPr>
          <a:xfrm>
            <a:off x="1156851" y="637762"/>
            <a:ext cx="9888496" cy="900131"/>
          </a:xfrm>
        </p:spPr>
        <p:txBody>
          <a:bodyPr anchor="t">
            <a:normAutofit/>
          </a:bodyPr>
          <a:lstStyle/>
          <a:p>
            <a:r>
              <a:rPr lang="fr-FR" sz="4000">
                <a:solidFill>
                  <a:schemeClr val="bg1"/>
                </a:solidFill>
              </a:rPr>
              <a:t>Restitutions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6734B4DA-5BBA-2428-48F3-E93640339DA3}"/>
              </a:ext>
            </a:extLst>
          </p:cNvPr>
          <p:cNvSpPr>
            <a:spLocks noGrp="1"/>
          </p:cNvSpPr>
          <p:nvPr>
            <p:ph idx="1"/>
          </p:nvPr>
        </p:nvSpPr>
        <p:spPr>
          <a:xfrm>
            <a:off x="1155548" y="2217343"/>
            <a:ext cx="9880893" cy="3959619"/>
          </a:xfrm>
        </p:spPr>
        <p:txBody>
          <a:bodyPr>
            <a:normAutofit/>
          </a:bodyPr>
          <a:lstStyle/>
          <a:p>
            <a:r>
              <a:rPr lang="fr-FR" sz="2400"/>
              <a:t>1 weekly à rendre à chaque fin de semaine (le vendredi) à déposer </a:t>
            </a:r>
            <a:r>
              <a:rPr lang="fr-FR" sz="2400">
                <a:hlinkClick r:id="rId2"/>
              </a:rPr>
              <a:t>dans le Drive </a:t>
            </a:r>
            <a:r>
              <a:rPr lang="fr-FR" sz="2400" b="1"/>
              <a:t>par le chef de projet </a:t>
            </a:r>
            <a:r>
              <a:rPr lang="fr-FR" sz="2400"/>
              <a:t>(il changera chaque semaine) avec la répartition des tâches de chacun</a:t>
            </a:r>
          </a:p>
          <a:p>
            <a:r>
              <a:rPr lang="fr-FR" sz="2400"/>
              <a:t>1 présentation le Vendredi par groupe des avancées par rapport aux jalons</a:t>
            </a:r>
          </a:p>
        </p:txBody>
      </p:sp>
    </p:spTree>
    <p:extLst>
      <p:ext uri="{BB962C8B-B14F-4D97-AF65-F5344CB8AC3E}">
        <p14:creationId xmlns:p14="http://schemas.microsoft.com/office/powerpoint/2010/main" val="327204535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608</TotalTime>
  <Words>1126</Words>
  <Application>Microsoft Office PowerPoint</Application>
  <PresentationFormat>Grand écran</PresentationFormat>
  <Paragraphs>167</Paragraphs>
  <Slides>19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Aptos</vt:lpstr>
      <vt:lpstr>Aptos Display</vt:lpstr>
      <vt:lpstr>Arial</vt:lpstr>
      <vt:lpstr>Thème Office</vt:lpstr>
      <vt:lpstr>Piloter un projet data</vt:lpstr>
      <vt:lpstr>Les informations</vt:lpstr>
      <vt:lpstr>Les blocs à valider</vt:lpstr>
      <vt:lpstr>Diriger des projets numériques</vt:lpstr>
      <vt:lpstr>Diriger des projets numériques</vt:lpstr>
      <vt:lpstr>Elaborer des concepts innovants au travers une démarche de design</vt:lpstr>
      <vt:lpstr>Elaborer des concepts innovants au travers une démarche de design</vt:lpstr>
      <vt:lpstr>Conseiller dans les choix et orientations technologiques de solutions numériques</vt:lpstr>
      <vt:lpstr>Conseiller dans les choix et orientations technologiques de solutions numériques</vt:lpstr>
      <vt:lpstr>Jalon 1 - Exploration &amp; choix du sujet </vt:lpstr>
      <vt:lpstr>Jalon 2 - Cadrage du besoin &amp; recherche utilisateur </vt:lpstr>
      <vt:lpstr>Jalon 3 – Cadrage fonctionnel et KPI</vt:lpstr>
      <vt:lpstr>Jalon 4 - Définition de la solution data </vt:lpstr>
      <vt:lpstr>Jalon 5 – Choix technologiques</vt:lpstr>
      <vt:lpstr>Jalon 6 – Planification &amp; risques</vt:lpstr>
      <vt:lpstr>Jalon 7 – Prototypes et tests</vt:lpstr>
      <vt:lpstr>Jalon 8 - Finalisation</vt:lpstr>
      <vt:lpstr>Outils</vt:lpstr>
      <vt:lpstr>Restitutions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Alison PATOU</dc:creator>
  <cp:lastModifiedBy>Alison PATOU</cp:lastModifiedBy>
  <cp:revision>5</cp:revision>
  <dcterms:created xsi:type="dcterms:W3CDTF">2026-04-06T09:44:18Z</dcterms:created>
  <dcterms:modified xsi:type="dcterms:W3CDTF">2026-04-06T19:52:27Z</dcterms:modified>
</cp:coreProperties>
</file>